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4864"/>
          </a:xfrm>
          <a:prstGeom prst="rect">
            <a:avLst/>
          </a:prstGeom>
          <a:solidFill>
            <a:srgbClr val="06C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803136"/>
            <a:ext cx="12188952" cy="54864"/>
          </a:xfrm>
          <a:prstGeom prst="rect">
            <a:avLst/>
          </a:prstGeom>
          <a:solidFill>
            <a:srgbClr val="06C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200" y="0"/>
            <a:ext cx="320040" cy="6858000"/>
          </a:xfrm>
          <a:prstGeom prst="rect">
            <a:avLst/>
          </a:prstGeom>
          <a:solidFill>
            <a:srgbClr val="1F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012680" y="0"/>
            <a:ext cx="320040" cy="6858000"/>
          </a:xfrm>
          <a:prstGeom prst="rect">
            <a:avLst/>
          </a:prstGeom>
          <a:solidFill>
            <a:srgbClr val="1F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424160" y="0"/>
            <a:ext cx="320040" cy="6858000"/>
          </a:xfrm>
          <a:prstGeom prst="rect">
            <a:avLst/>
          </a:prstGeom>
          <a:solidFill>
            <a:srgbClr val="1F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835640" y="0"/>
            <a:ext cx="320040" cy="6858000"/>
          </a:xfrm>
          <a:prstGeom prst="rect">
            <a:avLst/>
          </a:prstGeom>
          <a:solidFill>
            <a:srgbClr val="1F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47120" y="0"/>
            <a:ext cx="320040" cy="6858000"/>
          </a:xfrm>
          <a:prstGeom prst="rect">
            <a:avLst/>
          </a:prstGeom>
          <a:solidFill>
            <a:srgbClr val="1F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658600" y="0"/>
            <a:ext cx="320040" cy="6858000"/>
          </a:xfrm>
          <a:prstGeom prst="rect">
            <a:avLst/>
          </a:prstGeom>
          <a:solidFill>
            <a:srgbClr val="1F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822960"/>
            <a:ext cx="10058400" cy="411480"/>
          </a:xfrm>
          <a:prstGeom prst="rect">
            <a:avLst/>
          </a:prstGeom>
          <a:noFill/>
        </p:spPr>
        <p:txBody>
          <a:bodyPr wrap="square">
            <a:spAutoFit/>
          </a:bodyPr>
          <a:lstStyle/>
          <a:p>
            <a:pPr algn="l"/>
            <a:r>
              <a:rPr sz="1300" b="1" i="1">
                <a:solidFill>
                  <a:srgbClr val="06C755"/>
                </a:solidFill>
              </a:rPr>
              <a:t>PARTNERSHIP PROGRAM</a:t>
            </a:r>
          </a:p>
        </p:txBody>
      </p:sp>
      <p:sp>
        <p:nvSpPr>
          <p:cNvPr id="12" name="TextBox 11"/>
          <p:cNvSpPr txBox="1"/>
          <p:nvPr/>
        </p:nvSpPr>
        <p:spPr>
          <a:xfrm>
            <a:off x="914400" y="1325880"/>
            <a:ext cx="10058400" cy="914400"/>
          </a:xfrm>
          <a:prstGeom prst="rect">
            <a:avLst/>
          </a:prstGeom>
          <a:noFill/>
        </p:spPr>
        <p:txBody>
          <a:bodyPr wrap="square">
            <a:spAutoFit/>
          </a:bodyPr>
          <a:lstStyle/>
          <a:p>
            <a:pPr algn="l"/>
            <a:r>
              <a:rPr sz="4200" b="1" i="0">
                <a:solidFill>
                  <a:srgbClr val="FFFFFF"/>
                </a:solidFill>
              </a:rPr>
              <a:t>社労士・顧問パートナー</a:t>
            </a:r>
          </a:p>
        </p:txBody>
      </p:sp>
      <p:sp>
        <p:nvSpPr>
          <p:cNvPr id="13" name="TextBox 12"/>
          <p:cNvSpPr txBox="1"/>
          <p:nvPr/>
        </p:nvSpPr>
        <p:spPr>
          <a:xfrm>
            <a:off x="914400" y="2240280"/>
            <a:ext cx="10058400" cy="822960"/>
          </a:xfrm>
          <a:prstGeom prst="rect">
            <a:avLst/>
          </a:prstGeom>
          <a:noFill/>
        </p:spPr>
        <p:txBody>
          <a:bodyPr wrap="square">
            <a:spAutoFit/>
          </a:bodyPr>
          <a:lstStyle/>
          <a:p>
            <a:pPr algn="l"/>
            <a:r>
              <a:rPr sz="3600" b="1" i="0">
                <a:solidFill>
                  <a:srgbClr val="FFFFFF"/>
                </a:solidFill>
              </a:rPr>
              <a:t>紹介プログラムのご案内</a:t>
            </a:r>
          </a:p>
        </p:txBody>
      </p:sp>
      <p:sp>
        <p:nvSpPr>
          <p:cNvPr id="14" name="TextBox 13"/>
          <p:cNvSpPr txBox="1"/>
          <p:nvPr/>
        </p:nvSpPr>
        <p:spPr>
          <a:xfrm>
            <a:off x="914400" y="3383280"/>
            <a:ext cx="10058400" cy="457200"/>
          </a:xfrm>
          <a:prstGeom prst="rect">
            <a:avLst/>
          </a:prstGeom>
          <a:noFill/>
        </p:spPr>
        <p:txBody>
          <a:bodyPr wrap="square">
            <a:spAutoFit/>
          </a:bodyPr>
          <a:lstStyle/>
          <a:p>
            <a:pPr algn="l"/>
            <a:r>
              <a:rPr sz="1800" b="0" i="0">
                <a:solidFill>
                  <a:srgbClr val="06C755"/>
                </a:solidFill>
              </a:rPr>
              <a:t>ラクラク勤怠 x 社労士事務所</a:t>
            </a:r>
          </a:p>
        </p:txBody>
      </p:sp>
      <p:sp>
        <p:nvSpPr>
          <p:cNvPr id="15" name="TextBox 14"/>
          <p:cNvSpPr txBox="1"/>
          <p:nvPr/>
        </p:nvSpPr>
        <p:spPr>
          <a:xfrm>
            <a:off x="914400" y="3931920"/>
            <a:ext cx="10058400" cy="411480"/>
          </a:xfrm>
          <a:prstGeom prst="rect">
            <a:avLst/>
          </a:prstGeom>
          <a:noFill/>
        </p:spPr>
        <p:txBody>
          <a:bodyPr wrap="square">
            <a:spAutoFit/>
          </a:bodyPr>
          <a:lstStyle/>
          <a:p>
            <a:pPr algn="l"/>
            <a:r>
              <a:rPr sz="1400" b="0" i="0">
                <a:solidFill>
                  <a:srgbClr val="CCDDFF"/>
                </a:solidFill>
              </a:rPr>
              <a:t>派遣会社の「勤怠DX」と「離職防止」を一緒に解決しませんか</a:t>
            </a:r>
          </a:p>
        </p:txBody>
      </p:sp>
      <p:sp>
        <p:nvSpPr>
          <p:cNvPr id="16" name="Rectangle 15"/>
          <p:cNvSpPr/>
          <p:nvPr/>
        </p:nvSpPr>
        <p:spPr>
          <a:xfrm>
            <a:off x="914400" y="4846320"/>
            <a:ext cx="4114800" cy="54864"/>
          </a:xfrm>
          <a:prstGeom prst="rect">
            <a:avLst/>
          </a:prstGeom>
          <a:solidFill>
            <a:srgbClr val="06C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983480"/>
            <a:ext cx="7315200" cy="365760"/>
          </a:xfrm>
          <a:prstGeom prst="rect">
            <a:avLst/>
          </a:prstGeom>
          <a:noFill/>
        </p:spPr>
        <p:txBody>
          <a:bodyPr wrap="square">
            <a:spAutoFit/>
          </a:bodyPr>
          <a:lstStyle/>
          <a:p>
            <a:pPr algn="l"/>
            <a:r>
              <a:rPr sz="1200" b="0" i="0">
                <a:solidFill>
                  <a:srgbClr val="88AACC"/>
                </a:solidFill>
              </a:rPr>
              <a:t>2026年 ラクラク勤怠 株式会社（準備中）</a:t>
            </a:r>
          </a:p>
        </p:txBody>
      </p:sp>
      <p:sp>
        <p:nvSpPr>
          <p:cNvPr id="18" name="TextBox 17"/>
          <p:cNvSpPr txBox="1"/>
          <p:nvPr/>
        </p:nvSpPr>
        <p:spPr>
          <a:xfrm>
            <a:off x="10789920" y="6492240"/>
            <a:ext cx="1280160" cy="320040"/>
          </a:xfrm>
          <a:prstGeom prst="rect">
            <a:avLst/>
          </a:prstGeom>
          <a:noFill/>
        </p:spPr>
        <p:txBody>
          <a:bodyPr wrap="square">
            <a:spAutoFit/>
          </a:bodyPr>
          <a:lstStyle/>
          <a:p>
            <a:pPr algn="r"/>
            <a:r>
              <a:rPr sz="1100" b="0" i="0">
                <a:solidFill>
                  <a:srgbClr val="999999"/>
                </a:solidFill>
              </a:rPr>
              <a:t>1 /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43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54864" cy="5715000"/>
          </a:xfrm>
          <a:prstGeom prst="rect">
            <a:avLst/>
          </a:prstGeom>
          <a:solidFill>
            <a:srgbClr val="06C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594360"/>
          </a:xfrm>
          <a:prstGeom prst="rect">
            <a:avLst/>
          </a:prstGeom>
          <a:noFill/>
        </p:spPr>
        <p:txBody>
          <a:bodyPr wrap="square">
            <a:spAutoFit/>
          </a:bodyPr>
          <a:lstStyle/>
          <a:p>
            <a:pPr algn="l"/>
            <a:r>
              <a:rPr sz="2600" b="1" i="0">
                <a:solidFill>
                  <a:srgbClr val="FFFFFF"/>
                </a:solidFill>
              </a:rPr>
              <a:t>はじめに</a:t>
            </a:r>
          </a:p>
        </p:txBody>
      </p:sp>
      <p:sp>
        <p:nvSpPr>
          <p:cNvPr id="6" name="TextBox 5"/>
          <p:cNvSpPr txBox="1"/>
          <p:nvPr/>
        </p:nvSpPr>
        <p:spPr>
          <a:xfrm>
            <a:off x="411480" y="713232"/>
            <a:ext cx="10058400" cy="365760"/>
          </a:xfrm>
          <a:prstGeom prst="rect">
            <a:avLst/>
          </a:prstGeom>
          <a:noFill/>
        </p:spPr>
        <p:txBody>
          <a:bodyPr wrap="square">
            <a:spAutoFit/>
          </a:bodyPr>
          <a:lstStyle/>
          <a:p>
            <a:pPr algn="l"/>
            <a:r>
              <a:rPr sz="1300" b="0" i="0">
                <a:solidFill>
                  <a:srgbClr val="AACCFF"/>
                </a:solidFill>
              </a:rPr>
              <a:t>本提案のサマリー</a:t>
            </a:r>
          </a:p>
        </p:txBody>
      </p:sp>
      <p:sp>
        <p:nvSpPr>
          <p:cNvPr id="7" name="TextBox 6"/>
          <p:cNvSpPr txBox="1"/>
          <p:nvPr/>
        </p:nvSpPr>
        <p:spPr>
          <a:xfrm>
            <a:off x="10789920" y="6492240"/>
            <a:ext cx="1280160" cy="320040"/>
          </a:xfrm>
          <a:prstGeom prst="rect">
            <a:avLst/>
          </a:prstGeom>
          <a:noFill/>
        </p:spPr>
        <p:txBody>
          <a:bodyPr wrap="square">
            <a:spAutoFit/>
          </a:bodyPr>
          <a:lstStyle/>
          <a:p>
            <a:pPr algn="r"/>
            <a:r>
              <a:rPr sz="1100" b="0" i="0">
                <a:solidFill>
                  <a:srgbClr val="999999"/>
                </a:solidFill>
              </a:rPr>
              <a:t>2 / 10</a:t>
            </a:r>
          </a:p>
        </p:txBody>
      </p:sp>
      <p:sp>
        <p:nvSpPr>
          <p:cNvPr id="8" name="TextBox 7"/>
          <p:cNvSpPr txBox="1"/>
          <p:nvPr/>
        </p:nvSpPr>
        <p:spPr>
          <a:xfrm>
            <a:off x="365760" y="1325880"/>
            <a:ext cx="11430000" cy="457200"/>
          </a:xfrm>
          <a:prstGeom prst="rect">
            <a:avLst/>
          </a:prstGeom>
          <a:noFill/>
        </p:spPr>
        <p:txBody>
          <a:bodyPr wrap="square">
            <a:spAutoFit/>
          </a:bodyPr>
          <a:lstStyle/>
          <a:p>
            <a:pPr algn="l"/>
            <a:r>
              <a:rPr sz="1500" b="0" i="0">
                <a:solidFill>
                  <a:srgbClr val="1A1A2E"/>
                </a:solidFill>
              </a:rPr>
              <a:t>いつもお客様のご支援、誠にお疲れさまでございます。</a:t>
            </a:r>
          </a:p>
        </p:txBody>
      </p:sp>
      <p:sp>
        <p:nvSpPr>
          <p:cNvPr id="9" name="TextBox 8"/>
          <p:cNvSpPr txBox="1"/>
          <p:nvPr/>
        </p:nvSpPr>
        <p:spPr>
          <a:xfrm>
            <a:off x="365760" y="1828800"/>
            <a:ext cx="11430000" cy="457200"/>
          </a:xfrm>
          <a:prstGeom prst="rect">
            <a:avLst/>
          </a:prstGeom>
          <a:noFill/>
        </p:spPr>
        <p:txBody>
          <a:bodyPr wrap="square">
            <a:spAutoFit/>
          </a:bodyPr>
          <a:lstStyle/>
          <a:p>
            <a:pPr algn="l"/>
            <a:r>
              <a:rPr sz="1300" b="0" i="0">
                <a:solidFill>
                  <a:srgbClr val="555555"/>
                </a:solidFill>
              </a:rPr>
              <a:t>このたび、派遣業界に特化した勤怠管理サービス「ラクラク勤怠」の紹介パートナーを募集しております。</a:t>
            </a:r>
          </a:p>
        </p:txBody>
      </p:sp>
      <p:sp>
        <p:nvSpPr>
          <p:cNvPr id="10" name="Rectangle 9"/>
          <p:cNvSpPr/>
          <p:nvPr/>
        </p:nvSpPr>
        <p:spPr>
          <a:xfrm>
            <a:off x="365760" y="2606040"/>
            <a:ext cx="11430000" cy="77724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2606040"/>
            <a:ext cx="91440" cy="777240"/>
          </a:xfrm>
          <a:prstGeom prst="rect">
            <a:avLst/>
          </a:prstGeom>
          <a:solidFill>
            <a:srgbClr val="06C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697480"/>
            <a:ext cx="6858000" cy="411480"/>
          </a:xfrm>
          <a:prstGeom prst="rect">
            <a:avLst/>
          </a:prstGeom>
          <a:noFill/>
        </p:spPr>
        <p:txBody>
          <a:bodyPr wrap="square">
            <a:spAutoFit/>
          </a:bodyPr>
          <a:lstStyle/>
          <a:p>
            <a:pPr algn="l"/>
            <a:r>
              <a:rPr sz="1500" b="1" i="0">
                <a:solidFill>
                  <a:srgbClr val="06C755"/>
                </a:solidFill>
              </a:rPr>
              <a:t>1社あたり月3,000〜6,000円</a:t>
            </a:r>
          </a:p>
        </p:txBody>
      </p:sp>
      <p:sp>
        <p:nvSpPr>
          <p:cNvPr id="13" name="TextBox 12"/>
          <p:cNvSpPr txBox="1"/>
          <p:nvPr/>
        </p:nvSpPr>
        <p:spPr>
          <a:xfrm>
            <a:off x="640080" y="3063240"/>
            <a:ext cx="10515600" cy="320040"/>
          </a:xfrm>
          <a:prstGeom prst="rect">
            <a:avLst/>
          </a:prstGeom>
          <a:noFill/>
        </p:spPr>
        <p:txBody>
          <a:bodyPr wrap="square">
            <a:spAutoFit/>
          </a:bodyPr>
          <a:lstStyle/>
          <a:p>
            <a:pPr algn="l"/>
            <a:r>
              <a:rPr sz="1200" b="0" i="0">
                <a:solidFill>
                  <a:srgbClr val="555555"/>
                </a:solidFill>
              </a:rPr>
              <a:t>の継続紹介手数料を 12ヶ月間 お支払い</a:t>
            </a:r>
          </a:p>
        </p:txBody>
      </p:sp>
      <p:sp>
        <p:nvSpPr>
          <p:cNvPr id="14" name="Rectangle 13"/>
          <p:cNvSpPr/>
          <p:nvPr/>
        </p:nvSpPr>
        <p:spPr>
          <a:xfrm>
            <a:off x="365760" y="3474720"/>
            <a:ext cx="11430000" cy="77724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3474720"/>
            <a:ext cx="91440" cy="77724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566160"/>
            <a:ext cx="6858000" cy="411480"/>
          </a:xfrm>
          <a:prstGeom prst="rect">
            <a:avLst/>
          </a:prstGeom>
          <a:noFill/>
        </p:spPr>
        <p:txBody>
          <a:bodyPr wrap="square">
            <a:spAutoFit/>
          </a:bodyPr>
          <a:lstStyle/>
          <a:p>
            <a:pPr algn="l"/>
            <a:r>
              <a:rPr sz="1500" b="1" i="0">
                <a:solidFill>
                  <a:srgbClr val="1D4ED8"/>
                </a:solidFill>
              </a:rPr>
              <a:t>初回成約ボーナス ¥10,000</a:t>
            </a:r>
          </a:p>
        </p:txBody>
      </p:sp>
      <p:sp>
        <p:nvSpPr>
          <p:cNvPr id="17" name="TextBox 16"/>
          <p:cNvSpPr txBox="1"/>
          <p:nvPr/>
        </p:nvSpPr>
        <p:spPr>
          <a:xfrm>
            <a:off x="640080" y="3931920"/>
            <a:ext cx="10515600" cy="320040"/>
          </a:xfrm>
          <a:prstGeom prst="rect">
            <a:avLst/>
          </a:prstGeom>
          <a:noFill/>
        </p:spPr>
        <p:txBody>
          <a:bodyPr wrap="square">
            <a:spAutoFit/>
          </a:bodyPr>
          <a:lstStyle/>
          <a:p>
            <a:pPr algn="l"/>
            <a:r>
              <a:rPr sz="1200" b="0" i="0">
                <a:solidFill>
                  <a:srgbClr val="555555"/>
                </a:solidFill>
              </a:rPr>
              <a:t>顧客が30日無料トライアルを完了後に支給</a:t>
            </a:r>
          </a:p>
        </p:txBody>
      </p:sp>
      <p:sp>
        <p:nvSpPr>
          <p:cNvPr id="18" name="Rectangle 17"/>
          <p:cNvSpPr/>
          <p:nvPr/>
        </p:nvSpPr>
        <p:spPr>
          <a:xfrm>
            <a:off x="365760" y="4343400"/>
            <a:ext cx="11430000" cy="77724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5760" y="4343400"/>
            <a:ext cx="91440" cy="777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4434840"/>
            <a:ext cx="6858000" cy="411480"/>
          </a:xfrm>
          <a:prstGeom prst="rect">
            <a:avLst/>
          </a:prstGeom>
          <a:noFill/>
        </p:spPr>
        <p:txBody>
          <a:bodyPr wrap="square">
            <a:spAutoFit/>
          </a:bodyPr>
          <a:lstStyle/>
          <a:p>
            <a:pPr algn="l"/>
            <a:r>
              <a:rPr sz="1500" b="1" i="0">
                <a:solidFill>
                  <a:srgbClr val="F59E0B"/>
                </a:solidFill>
              </a:rPr>
              <a:t>紹介資料・営業同行サポート</a:t>
            </a:r>
          </a:p>
        </p:txBody>
      </p:sp>
      <p:sp>
        <p:nvSpPr>
          <p:cNvPr id="21" name="TextBox 20"/>
          <p:cNvSpPr txBox="1"/>
          <p:nvPr/>
        </p:nvSpPr>
        <p:spPr>
          <a:xfrm>
            <a:off x="640080" y="4800600"/>
            <a:ext cx="10515600" cy="320040"/>
          </a:xfrm>
          <a:prstGeom prst="rect">
            <a:avLst/>
          </a:prstGeom>
          <a:noFill/>
        </p:spPr>
        <p:txBody>
          <a:bodyPr wrap="square">
            <a:spAutoFit/>
          </a:bodyPr>
          <a:lstStyle/>
          <a:p>
            <a:pPr algn="l"/>
            <a:r>
              <a:rPr sz="1200" b="0" i="0">
                <a:solidFill>
                  <a:srgbClr val="555555"/>
                </a:solidFill>
              </a:rPr>
              <a:t>貴所の負担なく顧問先にご紹介可能</a:t>
            </a:r>
          </a:p>
        </p:txBody>
      </p:sp>
      <p:sp>
        <p:nvSpPr>
          <p:cNvPr id="22" name="Rectangle 21"/>
          <p:cNvSpPr/>
          <p:nvPr/>
        </p:nvSpPr>
        <p:spPr>
          <a:xfrm>
            <a:off x="365760" y="5212079"/>
            <a:ext cx="11430000" cy="77724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 y="5212079"/>
            <a:ext cx="91440" cy="77724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5303519"/>
            <a:ext cx="6858000" cy="411480"/>
          </a:xfrm>
          <a:prstGeom prst="rect">
            <a:avLst/>
          </a:prstGeom>
          <a:noFill/>
        </p:spPr>
        <p:txBody>
          <a:bodyPr wrap="square">
            <a:spAutoFit/>
          </a:bodyPr>
          <a:lstStyle/>
          <a:p>
            <a:pPr algn="l"/>
            <a:r>
              <a:rPr sz="1500" b="1" i="0">
                <a:solidFill>
                  <a:srgbClr val="6D28D9"/>
                </a:solidFill>
              </a:rPr>
              <a:t>顧問先の労務管理コストを削減</a:t>
            </a:r>
          </a:p>
        </p:txBody>
      </p:sp>
      <p:sp>
        <p:nvSpPr>
          <p:cNvPr id="25" name="TextBox 24"/>
          <p:cNvSpPr txBox="1"/>
          <p:nvPr/>
        </p:nvSpPr>
        <p:spPr>
          <a:xfrm>
            <a:off x="640080" y="5669279"/>
            <a:ext cx="10515600" cy="320040"/>
          </a:xfrm>
          <a:prstGeom prst="rect">
            <a:avLst/>
          </a:prstGeom>
          <a:noFill/>
        </p:spPr>
        <p:txBody>
          <a:bodyPr wrap="square">
            <a:spAutoFit/>
          </a:bodyPr>
          <a:lstStyle/>
          <a:p>
            <a:pPr algn="l"/>
            <a:r>
              <a:rPr sz="1200" b="0" i="0">
                <a:solidFill>
                  <a:srgbClr val="555555"/>
                </a:solidFill>
              </a:rPr>
              <a:t>結果として顧問契約の維持・拡大にも貢献</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43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54864" cy="5715000"/>
          </a:xfrm>
          <a:prstGeom prst="rect">
            <a:avLst/>
          </a:prstGeom>
          <a:solidFill>
            <a:srgbClr val="06C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594360"/>
          </a:xfrm>
          <a:prstGeom prst="rect">
            <a:avLst/>
          </a:prstGeom>
          <a:noFill/>
        </p:spPr>
        <p:txBody>
          <a:bodyPr wrap="square">
            <a:spAutoFit/>
          </a:bodyPr>
          <a:lstStyle/>
          <a:p>
            <a:pPr algn="l"/>
            <a:r>
              <a:rPr sz="2600" b="1" i="0">
                <a:solidFill>
                  <a:srgbClr val="FFFFFF"/>
                </a:solidFill>
              </a:rPr>
              <a:t>01  顧問先派遣会社の課題</a:t>
            </a:r>
          </a:p>
        </p:txBody>
      </p:sp>
      <p:sp>
        <p:nvSpPr>
          <p:cNvPr id="6" name="TextBox 5"/>
          <p:cNvSpPr txBox="1"/>
          <p:nvPr/>
        </p:nvSpPr>
        <p:spPr>
          <a:xfrm>
            <a:off x="411480" y="713232"/>
            <a:ext cx="10058400" cy="365760"/>
          </a:xfrm>
          <a:prstGeom prst="rect">
            <a:avLst/>
          </a:prstGeom>
          <a:noFill/>
        </p:spPr>
        <p:txBody>
          <a:bodyPr wrap="square">
            <a:spAutoFit/>
          </a:bodyPr>
          <a:lstStyle/>
          <a:p>
            <a:pPr algn="l"/>
            <a:r>
              <a:rPr sz="1300" b="0" i="0">
                <a:solidFill>
                  <a:srgbClr val="AACCFF"/>
                </a:solidFill>
              </a:rPr>
              <a:t>先生方が普段から相談を受けている問題と一致しているはずです</a:t>
            </a:r>
          </a:p>
        </p:txBody>
      </p:sp>
      <p:sp>
        <p:nvSpPr>
          <p:cNvPr id="7" name="TextBox 6"/>
          <p:cNvSpPr txBox="1"/>
          <p:nvPr/>
        </p:nvSpPr>
        <p:spPr>
          <a:xfrm>
            <a:off x="10789920" y="6492240"/>
            <a:ext cx="1280160" cy="320040"/>
          </a:xfrm>
          <a:prstGeom prst="rect">
            <a:avLst/>
          </a:prstGeom>
          <a:noFill/>
        </p:spPr>
        <p:txBody>
          <a:bodyPr wrap="square">
            <a:spAutoFit/>
          </a:bodyPr>
          <a:lstStyle/>
          <a:p>
            <a:pPr algn="r"/>
            <a:r>
              <a:rPr sz="1100" b="0" i="0">
                <a:solidFill>
                  <a:srgbClr val="999999"/>
                </a:solidFill>
              </a:rPr>
              <a:t>3 / 10</a:t>
            </a:r>
          </a:p>
        </p:txBody>
      </p:sp>
      <p:sp>
        <p:nvSpPr>
          <p:cNvPr id="8" name="Rectangle 7"/>
          <p:cNvSpPr/>
          <p:nvPr/>
        </p:nvSpPr>
        <p:spPr>
          <a:xfrm>
            <a:off x="320040" y="1371600"/>
            <a:ext cx="5577840" cy="237744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0040" y="1371600"/>
            <a:ext cx="73152" cy="237744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554480"/>
            <a:ext cx="5212080" cy="502920"/>
          </a:xfrm>
          <a:prstGeom prst="rect">
            <a:avLst/>
          </a:prstGeom>
          <a:noFill/>
        </p:spPr>
        <p:txBody>
          <a:bodyPr wrap="square">
            <a:spAutoFit/>
          </a:bodyPr>
          <a:lstStyle/>
          <a:p>
            <a:pPr algn="l"/>
            <a:r>
              <a:rPr sz="1500" b="1" i="0">
                <a:solidFill>
                  <a:srgbClr val="1A1A2E"/>
                </a:solidFill>
              </a:rPr>
              <a:t>離職率の高さ</a:t>
            </a:r>
          </a:p>
        </p:txBody>
      </p:sp>
      <p:sp>
        <p:nvSpPr>
          <p:cNvPr id="11" name="TextBox 10"/>
          <p:cNvSpPr txBox="1"/>
          <p:nvPr/>
        </p:nvSpPr>
        <p:spPr>
          <a:xfrm>
            <a:off x="502920" y="2148840"/>
            <a:ext cx="5212080" cy="1463040"/>
          </a:xfrm>
          <a:prstGeom prst="rect">
            <a:avLst/>
          </a:prstGeom>
          <a:noFill/>
        </p:spPr>
        <p:txBody>
          <a:bodyPr wrap="square">
            <a:spAutoFit/>
          </a:bodyPr>
          <a:lstStyle/>
          <a:p>
            <a:pPr algn="l"/>
            <a:r>
              <a:rPr sz="1200" b="0" i="0">
                <a:solidFill>
                  <a:srgbClr val="555555"/>
                </a:solidFill>
              </a:rPr>
              <a:t>派遣社員の年間離職率は正社員の2〜3倍
採用・教育コストが経営を圧迫</a:t>
            </a:r>
          </a:p>
        </p:txBody>
      </p:sp>
      <p:sp>
        <p:nvSpPr>
          <p:cNvPr id="12" name="Rectangle 11"/>
          <p:cNvSpPr/>
          <p:nvPr/>
        </p:nvSpPr>
        <p:spPr>
          <a:xfrm>
            <a:off x="6126479" y="1371600"/>
            <a:ext cx="5577840" cy="237744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26479" y="1371600"/>
            <a:ext cx="73152" cy="23774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59" y="1554480"/>
            <a:ext cx="5212080" cy="502920"/>
          </a:xfrm>
          <a:prstGeom prst="rect">
            <a:avLst/>
          </a:prstGeom>
          <a:noFill/>
        </p:spPr>
        <p:txBody>
          <a:bodyPr wrap="square">
            <a:spAutoFit/>
          </a:bodyPr>
          <a:lstStyle/>
          <a:p>
            <a:pPr algn="l"/>
            <a:r>
              <a:rPr sz="1500" b="1" i="0">
                <a:solidFill>
                  <a:srgbClr val="1A1A2E"/>
                </a:solidFill>
              </a:rPr>
              <a:t>紙タイムカード・手集計</a:t>
            </a:r>
          </a:p>
        </p:txBody>
      </p:sp>
      <p:sp>
        <p:nvSpPr>
          <p:cNvPr id="15" name="TextBox 14"/>
          <p:cNvSpPr txBox="1"/>
          <p:nvPr/>
        </p:nvSpPr>
        <p:spPr>
          <a:xfrm>
            <a:off x="6309359" y="2148840"/>
            <a:ext cx="5212080" cy="1463040"/>
          </a:xfrm>
          <a:prstGeom prst="rect">
            <a:avLst/>
          </a:prstGeom>
          <a:noFill/>
        </p:spPr>
        <p:txBody>
          <a:bodyPr wrap="square">
            <a:spAutoFit/>
          </a:bodyPr>
          <a:lstStyle/>
          <a:p>
            <a:pPr algn="l"/>
            <a:r>
              <a:rPr sz="1200" b="0" i="0">
                <a:solidFill>
                  <a:srgbClr val="555555"/>
                </a:solidFill>
              </a:rPr>
              <a:t>電子帳簿保存法対応が急務
月末の集計工数が膨大</a:t>
            </a:r>
          </a:p>
        </p:txBody>
      </p:sp>
      <p:sp>
        <p:nvSpPr>
          <p:cNvPr id="16" name="Rectangle 15"/>
          <p:cNvSpPr/>
          <p:nvPr/>
        </p:nvSpPr>
        <p:spPr>
          <a:xfrm>
            <a:off x="320040" y="3977639"/>
            <a:ext cx="5577840" cy="237744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0040" y="3977639"/>
            <a:ext cx="73152" cy="237744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4160520"/>
            <a:ext cx="5212080" cy="502920"/>
          </a:xfrm>
          <a:prstGeom prst="rect">
            <a:avLst/>
          </a:prstGeom>
          <a:noFill/>
        </p:spPr>
        <p:txBody>
          <a:bodyPr wrap="square">
            <a:spAutoFit/>
          </a:bodyPr>
          <a:lstStyle/>
          <a:p>
            <a:pPr algn="l"/>
            <a:r>
              <a:rPr sz="1500" b="1" i="0">
                <a:solidFill>
                  <a:srgbClr val="1A1A2E"/>
                </a:solidFill>
              </a:rPr>
              <a:t>労務トラブル</a:t>
            </a:r>
          </a:p>
        </p:txBody>
      </p:sp>
      <p:sp>
        <p:nvSpPr>
          <p:cNvPr id="19" name="TextBox 18"/>
          <p:cNvSpPr txBox="1"/>
          <p:nvPr/>
        </p:nvSpPr>
        <p:spPr>
          <a:xfrm>
            <a:off x="502920" y="4754879"/>
            <a:ext cx="5212080" cy="1463040"/>
          </a:xfrm>
          <a:prstGeom prst="rect">
            <a:avLst/>
          </a:prstGeom>
          <a:noFill/>
        </p:spPr>
        <p:txBody>
          <a:bodyPr wrap="square">
            <a:spAutoFit/>
          </a:bodyPr>
          <a:lstStyle/>
          <a:p>
            <a:pPr algn="l"/>
            <a:r>
              <a:rPr sz="1200" b="0" i="0">
                <a:solidFill>
                  <a:srgbClr val="555555"/>
                </a:solidFill>
              </a:rPr>
              <a:t>残業時間の記録不備による未払い残業金請求
打刻修正依頼の頻発</a:t>
            </a:r>
          </a:p>
        </p:txBody>
      </p:sp>
      <p:sp>
        <p:nvSpPr>
          <p:cNvPr id="20" name="Rectangle 19"/>
          <p:cNvSpPr/>
          <p:nvPr/>
        </p:nvSpPr>
        <p:spPr>
          <a:xfrm>
            <a:off x="6126479" y="3977639"/>
            <a:ext cx="5577840" cy="237744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79" y="3977639"/>
            <a:ext cx="73152" cy="237744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9359" y="4160520"/>
            <a:ext cx="5212080" cy="502920"/>
          </a:xfrm>
          <a:prstGeom prst="rect">
            <a:avLst/>
          </a:prstGeom>
          <a:noFill/>
        </p:spPr>
        <p:txBody>
          <a:bodyPr wrap="square">
            <a:spAutoFit/>
          </a:bodyPr>
          <a:lstStyle/>
          <a:p>
            <a:pPr algn="l"/>
            <a:r>
              <a:rPr sz="1500" b="1" i="0">
                <a:solidFill>
                  <a:srgbClr val="1A1A2E"/>
                </a:solidFill>
              </a:rPr>
              <a:t>既存ツール導入の壁</a:t>
            </a:r>
          </a:p>
        </p:txBody>
      </p:sp>
      <p:sp>
        <p:nvSpPr>
          <p:cNvPr id="23" name="TextBox 22"/>
          <p:cNvSpPr txBox="1"/>
          <p:nvPr/>
        </p:nvSpPr>
        <p:spPr>
          <a:xfrm>
            <a:off x="6309359" y="4754879"/>
            <a:ext cx="5212080" cy="1463040"/>
          </a:xfrm>
          <a:prstGeom prst="rect">
            <a:avLst/>
          </a:prstGeom>
          <a:noFill/>
        </p:spPr>
        <p:txBody>
          <a:bodyPr wrap="square">
            <a:spAutoFit/>
          </a:bodyPr>
          <a:lstStyle/>
          <a:p>
            <a:pPr algn="l"/>
            <a:r>
              <a:rPr sz="1200" b="0" i="0">
                <a:solidFill>
                  <a:srgbClr val="555555"/>
                </a:solidFill>
              </a:rPr>
              <a:t>アプリDL拒否・操作教育コストでスタッフが離脱
IT不慣れな中小派遣会社は導入できず</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43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54864" cy="5715000"/>
          </a:xfrm>
          <a:prstGeom prst="rect">
            <a:avLst/>
          </a:prstGeom>
          <a:solidFill>
            <a:srgbClr val="06C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594360"/>
          </a:xfrm>
          <a:prstGeom prst="rect">
            <a:avLst/>
          </a:prstGeom>
          <a:noFill/>
        </p:spPr>
        <p:txBody>
          <a:bodyPr wrap="square">
            <a:spAutoFit/>
          </a:bodyPr>
          <a:lstStyle/>
          <a:p>
            <a:pPr algn="l"/>
            <a:r>
              <a:rPr sz="2600" b="1" i="0">
                <a:solidFill>
                  <a:srgbClr val="FFFFFF"/>
                </a:solidFill>
              </a:rPr>
              <a:t>02  ラクラク勤怠 とは</a:t>
            </a:r>
          </a:p>
        </p:txBody>
      </p:sp>
      <p:sp>
        <p:nvSpPr>
          <p:cNvPr id="6" name="TextBox 5"/>
          <p:cNvSpPr txBox="1"/>
          <p:nvPr/>
        </p:nvSpPr>
        <p:spPr>
          <a:xfrm>
            <a:off x="411480" y="713232"/>
            <a:ext cx="10058400" cy="365760"/>
          </a:xfrm>
          <a:prstGeom prst="rect">
            <a:avLst/>
          </a:prstGeom>
          <a:noFill/>
        </p:spPr>
        <p:txBody>
          <a:bodyPr wrap="square">
            <a:spAutoFit/>
          </a:bodyPr>
          <a:lstStyle/>
          <a:p>
            <a:pPr algn="l"/>
            <a:r>
              <a:rPr sz="1300" b="0" i="0">
                <a:solidFill>
                  <a:srgbClr val="AACCFF"/>
                </a:solidFill>
              </a:rPr>
              <a:t>LINEで完結する派遣会社特化の勤怠管理SaaS</a:t>
            </a:r>
          </a:p>
        </p:txBody>
      </p:sp>
      <p:sp>
        <p:nvSpPr>
          <p:cNvPr id="7" name="TextBox 6"/>
          <p:cNvSpPr txBox="1"/>
          <p:nvPr/>
        </p:nvSpPr>
        <p:spPr>
          <a:xfrm>
            <a:off x="10789920" y="6492240"/>
            <a:ext cx="1280160" cy="320040"/>
          </a:xfrm>
          <a:prstGeom prst="rect">
            <a:avLst/>
          </a:prstGeom>
          <a:noFill/>
        </p:spPr>
        <p:txBody>
          <a:bodyPr wrap="square">
            <a:spAutoFit/>
          </a:bodyPr>
          <a:lstStyle/>
          <a:p>
            <a:pPr algn="r"/>
            <a:r>
              <a:rPr sz="1100" b="0" i="0">
                <a:solidFill>
                  <a:srgbClr val="999999"/>
                </a:solidFill>
              </a:rPr>
              <a:t>4 / 10</a:t>
            </a:r>
          </a:p>
        </p:txBody>
      </p:sp>
      <p:sp>
        <p:nvSpPr>
          <p:cNvPr id="8" name="TextBox 7"/>
          <p:cNvSpPr txBox="1"/>
          <p:nvPr/>
        </p:nvSpPr>
        <p:spPr>
          <a:xfrm>
            <a:off x="365760" y="1234440"/>
            <a:ext cx="11430000" cy="457200"/>
          </a:xfrm>
          <a:prstGeom prst="rect">
            <a:avLst/>
          </a:prstGeom>
          <a:noFill/>
        </p:spPr>
        <p:txBody>
          <a:bodyPr wrap="square">
            <a:spAutoFit/>
          </a:bodyPr>
          <a:lstStyle/>
          <a:p>
            <a:pPr algn="l"/>
            <a:r>
              <a:rPr sz="1400" b="1" i="0">
                <a:solidFill>
                  <a:srgbClr val="1A1A2E"/>
                </a:solidFill>
              </a:rPr>
              <a:t>「LINEを開いてボタンを1回押すだけ」 アプリDL不要・当日から使える勤怠管理サービス</a:t>
            </a:r>
          </a:p>
        </p:txBody>
      </p:sp>
      <p:sp>
        <p:nvSpPr>
          <p:cNvPr id="9" name="Rectangle 8"/>
          <p:cNvSpPr/>
          <p:nvPr/>
        </p:nvSpPr>
        <p:spPr>
          <a:xfrm>
            <a:off x="548640" y="1828800"/>
            <a:ext cx="2606040" cy="228600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828800"/>
            <a:ext cx="2606040" cy="73152"/>
          </a:xfrm>
          <a:prstGeom prst="rect">
            <a:avLst/>
          </a:prstGeom>
          <a:solidFill>
            <a:srgbClr val="06C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103120"/>
            <a:ext cx="2606040" cy="457200"/>
          </a:xfrm>
          <a:prstGeom prst="rect">
            <a:avLst/>
          </a:prstGeom>
          <a:noFill/>
        </p:spPr>
        <p:txBody>
          <a:bodyPr wrap="square">
            <a:spAutoFit/>
          </a:bodyPr>
          <a:lstStyle/>
          <a:p>
            <a:pPr algn="ctr"/>
            <a:r>
              <a:rPr sz="1400" b="1" i="0">
                <a:solidFill>
                  <a:srgbClr val="1A1A2E"/>
                </a:solidFill>
              </a:rPr>
              <a:t>1タップ打刻</a:t>
            </a:r>
          </a:p>
        </p:txBody>
      </p:sp>
      <p:sp>
        <p:nvSpPr>
          <p:cNvPr id="12" name="TextBox 11"/>
          <p:cNvSpPr txBox="1"/>
          <p:nvPr/>
        </p:nvSpPr>
        <p:spPr>
          <a:xfrm>
            <a:off x="548640" y="2606040"/>
            <a:ext cx="2606040" cy="457200"/>
          </a:xfrm>
          <a:prstGeom prst="rect">
            <a:avLst/>
          </a:prstGeom>
          <a:noFill/>
        </p:spPr>
        <p:txBody>
          <a:bodyPr wrap="square">
            <a:spAutoFit/>
          </a:bodyPr>
          <a:lstStyle/>
          <a:p>
            <a:pPr algn="ctr"/>
            <a:r>
              <a:rPr sz="1200" b="0" i="0">
                <a:solidFill>
                  <a:srgbClr val="555555"/>
                </a:solidFill>
              </a:rPr>
              <a:t>LINEで出退勤</a:t>
            </a:r>
          </a:p>
        </p:txBody>
      </p:sp>
      <p:sp>
        <p:nvSpPr>
          <p:cNvPr id="13" name="Rectangle 12"/>
          <p:cNvSpPr/>
          <p:nvPr/>
        </p:nvSpPr>
        <p:spPr>
          <a:xfrm>
            <a:off x="3337560" y="1828800"/>
            <a:ext cx="2606040" cy="228600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37560" y="1828800"/>
            <a:ext cx="260604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37560" y="2103120"/>
            <a:ext cx="2606040" cy="457200"/>
          </a:xfrm>
          <a:prstGeom prst="rect">
            <a:avLst/>
          </a:prstGeom>
          <a:noFill/>
        </p:spPr>
        <p:txBody>
          <a:bodyPr wrap="square">
            <a:spAutoFit/>
          </a:bodyPr>
          <a:lstStyle/>
          <a:p>
            <a:pPr algn="ctr"/>
            <a:r>
              <a:rPr sz="1400" b="1" i="0">
                <a:solidFill>
                  <a:srgbClr val="1A1A2E"/>
                </a:solidFill>
              </a:rPr>
              <a:t>コンディション報告</a:t>
            </a:r>
          </a:p>
        </p:txBody>
      </p:sp>
      <p:sp>
        <p:nvSpPr>
          <p:cNvPr id="16" name="TextBox 15"/>
          <p:cNvSpPr txBox="1"/>
          <p:nvPr/>
        </p:nvSpPr>
        <p:spPr>
          <a:xfrm>
            <a:off x="3337560" y="2606040"/>
            <a:ext cx="2606040" cy="457200"/>
          </a:xfrm>
          <a:prstGeom prst="rect">
            <a:avLst/>
          </a:prstGeom>
          <a:noFill/>
        </p:spPr>
        <p:txBody>
          <a:bodyPr wrap="square">
            <a:spAutoFit/>
          </a:bodyPr>
          <a:lstStyle/>
          <a:p>
            <a:pPr algn="ctr"/>
            <a:r>
              <a:rPr sz="1200" b="0" i="0">
                <a:solidFill>
                  <a:srgbClr val="555555"/>
                </a:solidFill>
              </a:rPr>
              <a:t>5秒の絵文字選択</a:t>
            </a:r>
          </a:p>
        </p:txBody>
      </p:sp>
      <p:sp>
        <p:nvSpPr>
          <p:cNvPr id="17" name="Rectangle 16"/>
          <p:cNvSpPr/>
          <p:nvPr/>
        </p:nvSpPr>
        <p:spPr>
          <a:xfrm>
            <a:off x="6126479" y="1828800"/>
            <a:ext cx="2606040" cy="228600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26479" y="1828800"/>
            <a:ext cx="2606040" cy="7315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26479" y="2103120"/>
            <a:ext cx="2606040" cy="457200"/>
          </a:xfrm>
          <a:prstGeom prst="rect">
            <a:avLst/>
          </a:prstGeom>
          <a:noFill/>
        </p:spPr>
        <p:txBody>
          <a:bodyPr wrap="square">
            <a:spAutoFit/>
          </a:bodyPr>
          <a:lstStyle/>
          <a:p>
            <a:pPr algn="ctr"/>
            <a:r>
              <a:rPr sz="1400" b="1" i="0">
                <a:solidFill>
                  <a:srgbClr val="1A1A2E"/>
                </a:solidFill>
              </a:rPr>
              <a:t>離職アラート</a:t>
            </a:r>
          </a:p>
        </p:txBody>
      </p:sp>
      <p:sp>
        <p:nvSpPr>
          <p:cNvPr id="20" name="TextBox 19"/>
          <p:cNvSpPr txBox="1"/>
          <p:nvPr/>
        </p:nvSpPr>
        <p:spPr>
          <a:xfrm>
            <a:off x="6126479" y="2606040"/>
            <a:ext cx="2606040" cy="457200"/>
          </a:xfrm>
          <a:prstGeom prst="rect">
            <a:avLst/>
          </a:prstGeom>
          <a:noFill/>
        </p:spPr>
        <p:txBody>
          <a:bodyPr wrap="square">
            <a:spAutoFit/>
          </a:bodyPr>
          <a:lstStyle/>
          <a:p>
            <a:pPr algn="ctr"/>
            <a:r>
              <a:rPr sz="1200" b="0" i="0">
                <a:solidFill>
                  <a:srgbClr val="555555"/>
                </a:solidFill>
              </a:rPr>
              <a:t>管理者に即時通知</a:t>
            </a:r>
          </a:p>
        </p:txBody>
      </p:sp>
      <p:sp>
        <p:nvSpPr>
          <p:cNvPr id="21" name="Rectangle 20"/>
          <p:cNvSpPr/>
          <p:nvPr/>
        </p:nvSpPr>
        <p:spPr>
          <a:xfrm>
            <a:off x="8915399" y="1828800"/>
            <a:ext cx="2606040" cy="228600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915399" y="1828800"/>
            <a:ext cx="2606040" cy="7315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15399" y="2103120"/>
            <a:ext cx="2606040" cy="457200"/>
          </a:xfrm>
          <a:prstGeom prst="rect">
            <a:avLst/>
          </a:prstGeom>
          <a:noFill/>
        </p:spPr>
        <p:txBody>
          <a:bodyPr wrap="square">
            <a:spAutoFit/>
          </a:bodyPr>
          <a:lstStyle/>
          <a:p>
            <a:pPr algn="ctr"/>
            <a:r>
              <a:rPr sz="1400" b="1" i="0">
                <a:solidFill>
                  <a:srgbClr val="1A1A2E"/>
                </a:solidFill>
              </a:rPr>
              <a:t>管理ダッシュボード</a:t>
            </a:r>
          </a:p>
        </p:txBody>
      </p:sp>
      <p:sp>
        <p:nvSpPr>
          <p:cNvPr id="24" name="TextBox 23"/>
          <p:cNvSpPr txBox="1"/>
          <p:nvPr/>
        </p:nvSpPr>
        <p:spPr>
          <a:xfrm>
            <a:off x="8915399" y="2606040"/>
            <a:ext cx="2606040" cy="457200"/>
          </a:xfrm>
          <a:prstGeom prst="rect">
            <a:avLst/>
          </a:prstGeom>
          <a:noFill/>
        </p:spPr>
        <p:txBody>
          <a:bodyPr wrap="square">
            <a:spAutoFit/>
          </a:bodyPr>
          <a:lstStyle/>
          <a:p>
            <a:pPr algn="ctr"/>
            <a:r>
              <a:rPr sz="1200" b="0" i="0">
                <a:solidFill>
                  <a:srgbClr val="555555"/>
                </a:solidFill>
              </a:rPr>
              <a:t>リアルタイム可視化</a:t>
            </a:r>
          </a:p>
        </p:txBody>
      </p:sp>
      <p:sp>
        <p:nvSpPr>
          <p:cNvPr id="25" name="Rectangle 24"/>
          <p:cNvSpPr/>
          <p:nvPr/>
        </p:nvSpPr>
        <p:spPr>
          <a:xfrm>
            <a:off x="365760" y="4434840"/>
            <a:ext cx="11475720" cy="1828800"/>
          </a:xfrm>
          <a:prstGeom prst="rect">
            <a:avLst/>
          </a:prstGeom>
          <a:solidFill>
            <a:srgbClr val="DCFB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4526280"/>
            <a:ext cx="2743200" cy="365760"/>
          </a:xfrm>
          <a:prstGeom prst="rect">
            <a:avLst/>
          </a:prstGeom>
          <a:noFill/>
        </p:spPr>
        <p:txBody>
          <a:bodyPr wrap="square">
            <a:spAutoFit/>
          </a:bodyPr>
          <a:lstStyle/>
          <a:p>
            <a:pPr algn="l"/>
            <a:r>
              <a:rPr sz="1400" b="1" i="0">
                <a:solidFill>
                  <a:srgbClr val="049A40"/>
                </a:solidFill>
              </a:rPr>
              <a:t>料金</a:t>
            </a:r>
          </a:p>
        </p:txBody>
      </p:sp>
      <p:sp>
        <p:nvSpPr>
          <p:cNvPr id="27" name="TextBox 26"/>
          <p:cNvSpPr txBox="1"/>
          <p:nvPr/>
        </p:nvSpPr>
        <p:spPr>
          <a:xfrm>
            <a:off x="548640" y="4937760"/>
            <a:ext cx="11247120" cy="411480"/>
          </a:xfrm>
          <a:prstGeom prst="rect">
            <a:avLst/>
          </a:prstGeom>
          <a:noFill/>
        </p:spPr>
        <p:txBody>
          <a:bodyPr wrap="square">
            <a:spAutoFit/>
          </a:bodyPr>
          <a:lstStyle/>
          <a:p>
            <a:pPr algn="l"/>
            <a:r>
              <a:rPr sz="1400" b="0" i="0">
                <a:solidFill>
                  <a:srgbClr val="1A1A2E"/>
                </a:solidFill>
              </a:rPr>
              <a:t>スタッフ1人あたり 150〜200円/月　　初期費用：0円　　最低契約期間：なし</a:t>
            </a:r>
          </a:p>
        </p:txBody>
      </p:sp>
      <p:sp>
        <p:nvSpPr>
          <p:cNvPr id="28" name="TextBox 27"/>
          <p:cNvSpPr txBox="1"/>
          <p:nvPr/>
        </p:nvSpPr>
        <p:spPr>
          <a:xfrm>
            <a:off x="548640" y="5394960"/>
            <a:ext cx="11247120" cy="365760"/>
          </a:xfrm>
          <a:prstGeom prst="rect">
            <a:avLst/>
          </a:prstGeom>
          <a:noFill/>
        </p:spPr>
        <p:txBody>
          <a:bodyPr wrap="square">
            <a:spAutoFit/>
          </a:bodyPr>
          <a:lstStyle/>
          <a:p>
            <a:pPr algn="l"/>
            <a:r>
              <a:rPr sz="1300" b="0" i="0">
                <a:solidFill>
                  <a:srgbClr val="555555"/>
                </a:solidFill>
              </a:rPr>
              <a:t>例）登録スタッフ100名の派遣会社：月額 ¥20,000</a:t>
            </a:r>
          </a:p>
        </p:txBody>
      </p:sp>
      <p:sp>
        <p:nvSpPr>
          <p:cNvPr id="29" name="TextBox 28"/>
          <p:cNvSpPr txBox="1"/>
          <p:nvPr/>
        </p:nvSpPr>
        <p:spPr>
          <a:xfrm>
            <a:off x="548640" y="5806440"/>
            <a:ext cx="11247120" cy="365760"/>
          </a:xfrm>
          <a:prstGeom prst="rect">
            <a:avLst/>
          </a:prstGeom>
          <a:noFill/>
        </p:spPr>
        <p:txBody>
          <a:bodyPr wrap="square">
            <a:spAutoFit/>
          </a:bodyPr>
          <a:lstStyle/>
          <a:p>
            <a:pPr algn="l"/>
            <a:r>
              <a:rPr sz="1300" b="1" i="0">
                <a:solidFill>
                  <a:srgbClr val="049A40"/>
                </a:solidFill>
              </a:rPr>
              <a:t>30日間 全機能 無料トライアル（クレジットカード不要）</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43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54864" cy="5715000"/>
          </a:xfrm>
          <a:prstGeom prst="rect">
            <a:avLst/>
          </a:prstGeom>
          <a:solidFill>
            <a:srgbClr val="06C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594360"/>
          </a:xfrm>
          <a:prstGeom prst="rect">
            <a:avLst/>
          </a:prstGeom>
          <a:noFill/>
        </p:spPr>
        <p:txBody>
          <a:bodyPr wrap="square">
            <a:spAutoFit/>
          </a:bodyPr>
          <a:lstStyle/>
          <a:p>
            <a:pPr algn="l"/>
            <a:r>
              <a:rPr sz="2600" b="1" i="0">
                <a:solidFill>
                  <a:srgbClr val="FFFFFF"/>
                </a:solidFill>
              </a:rPr>
              <a:t>03  なぜ社労士の先生にご紹介をお願いするのか</a:t>
            </a:r>
          </a:p>
        </p:txBody>
      </p:sp>
      <p:sp>
        <p:nvSpPr>
          <p:cNvPr id="6" name="TextBox 5"/>
          <p:cNvSpPr txBox="1"/>
          <p:nvPr/>
        </p:nvSpPr>
        <p:spPr>
          <a:xfrm>
            <a:off x="411480" y="713232"/>
            <a:ext cx="10058400" cy="365760"/>
          </a:xfrm>
          <a:prstGeom prst="rect">
            <a:avLst/>
          </a:prstGeom>
          <a:noFill/>
        </p:spPr>
        <p:txBody>
          <a:bodyPr wrap="square">
            <a:spAutoFit/>
          </a:bodyPr>
          <a:lstStyle/>
          <a:p>
            <a:pPr algn="l"/>
            <a:r>
              <a:rPr sz="1300" b="0" i="0">
                <a:solidFill>
                  <a:srgbClr val="AACCFF"/>
                </a:solidFill>
              </a:rPr>
              <a:t>三方良しの関係を構築できるためです</a:t>
            </a:r>
          </a:p>
        </p:txBody>
      </p:sp>
      <p:sp>
        <p:nvSpPr>
          <p:cNvPr id="7" name="TextBox 6"/>
          <p:cNvSpPr txBox="1"/>
          <p:nvPr/>
        </p:nvSpPr>
        <p:spPr>
          <a:xfrm>
            <a:off x="10789920" y="6492240"/>
            <a:ext cx="1280160" cy="320040"/>
          </a:xfrm>
          <a:prstGeom prst="rect">
            <a:avLst/>
          </a:prstGeom>
          <a:noFill/>
        </p:spPr>
        <p:txBody>
          <a:bodyPr wrap="square">
            <a:spAutoFit/>
          </a:bodyPr>
          <a:lstStyle/>
          <a:p>
            <a:pPr algn="r"/>
            <a:r>
              <a:rPr sz="1100" b="0" i="0">
                <a:solidFill>
                  <a:srgbClr val="999999"/>
                </a:solidFill>
              </a:rPr>
              <a:t>5 / 10</a:t>
            </a:r>
          </a:p>
        </p:txBody>
      </p:sp>
      <p:sp>
        <p:nvSpPr>
          <p:cNvPr id="8" name="Rectangle 7"/>
          <p:cNvSpPr/>
          <p:nvPr/>
        </p:nvSpPr>
        <p:spPr>
          <a:xfrm>
            <a:off x="320040" y="1371600"/>
            <a:ext cx="3749039" cy="493776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0040" y="1371600"/>
            <a:ext cx="3749039" cy="548640"/>
          </a:xfrm>
          <a:prstGeom prst="rect">
            <a:avLst/>
          </a:prstGeom>
          <a:solidFill>
            <a:srgbClr val="06C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1417320"/>
            <a:ext cx="3749039" cy="457200"/>
          </a:xfrm>
          <a:prstGeom prst="rect">
            <a:avLst/>
          </a:prstGeom>
          <a:noFill/>
        </p:spPr>
        <p:txBody>
          <a:bodyPr wrap="square">
            <a:spAutoFit/>
          </a:bodyPr>
          <a:lstStyle/>
          <a:p>
            <a:pPr algn="ctr"/>
            <a:r>
              <a:rPr sz="1500" b="1" i="0">
                <a:solidFill>
                  <a:srgbClr val="FFFFFF"/>
                </a:solidFill>
              </a:rPr>
              <a:t>派遣会社（顧問先）</a:t>
            </a:r>
          </a:p>
        </p:txBody>
      </p:sp>
      <p:sp>
        <p:nvSpPr>
          <p:cNvPr id="11" name="TextBox 10"/>
          <p:cNvSpPr txBox="1"/>
          <p:nvPr/>
        </p:nvSpPr>
        <p:spPr>
          <a:xfrm>
            <a:off x="502920" y="2103120"/>
            <a:ext cx="3429000" cy="4114800"/>
          </a:xfrm>
          <a:prstGeom prst="rect">
            <a:avLst/>
          </a:prstGeom>
          <a:noFill/>
        </p:spPr>
        <p:txBody>
          <a:bodyPr wrap="square">
            <a:spAutoFit/>
          </a:bodyPr>
          <a:lstStyle/>
          <a:p>
            <a:pPr algn="l"/>
            <a:r>
              <a:rPr sz="1200" b="0" i="0">
                <a:solidFill>
                  <a:srgbClr val="1A1A2E"/>
                </a:solidFill>
              </a:rPr>
              <a:t>離職防止＋勤怠DXを同時実現
紙タイムカード廃止でコスト削減
打刻トラブル激減で先生への問合せ減少</a:t>
            </a:r>
          </a:p>
        </p:txBody>
      </p:sp>
      <p:sp>
        <p:nvSpPr>
          <p:cNvPr id="12" name="Rectangle 11"/>
          <p:cNvSpPr/>
          <p:nvPr/>
        </p:nvSpPr>
        <p:spPr>
          <a:xfrm>
            <a:off x="4251959" y="1371600"/>
            <a:ext cx="3749039" cy="493776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51959" y="1371600"/>
            <a:ext cx="3749039" cy="54864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51959" y="1417320"/>
            <a:ext cx="3749039" cy="457200"/>
          </a:xfrm>
          <a:prstGeom prst="rect">
            <a:avLst/>
          </a:prstGeom>
          <a:noFill/>
        </p:spPr>
        <p:txBody>
          <a:bodyPr wrap="square">
            <a:spAutoFit/>
          </a:bodyPr>
          <a:lstStyle/>
          <a:p>
            <a:pPr algn="ctr"/>
            <a:r>
              <a:rPr sz="1500" b="1" i="0">
                <a:solidFill>
                  <a:srgbClr val="FFFFFF"/>
                </a:solidFill>
              </a:rPr>
              <a:t>社労士の先生</a:t>
            </a:r>
          </a:p>
        </p:txBody>
      </p:sp>
      <p:sp>
        <p:nvSpPr>
          <p:cNvPr id="15" name="TextBox 14"/>
          <p:cNvSpPr txBox="1"/>
          <p:nvPr/>
        </p:nvSpPr>
        <p:spPr>
          <a:xfrm>
            <a:off x="4434840" y="2103120"/>
            <a:ext cx="3429000" cy="4114800"/>
          </a:xfrm>
          <a:prstGeom prst="rect">
            <a:avLst/>
          </a:prstGeom>
          <a:noFill/>
        </p:spPr>
        <p:txBody>
          <a:bodyPr wrap="square">
            <a:spAutoFit/>
          </a:bodyPr>
          <a:lstStyle/>
          <a:p>
            <a:pPr algn="l"/>
            <a:r>
              <a:rPr sz="1200" b="0" i="0">
                <a:solidFill>
                  <a:srgbClr val="1A1A2E"/>
                </a:solidFill>
              </a:rPr>
              <a:t>顧問先の労務リスク低減
継続紹介手数料による安定収益
他事務所との差別化</a:t>
            </a:r>
          </a:p>
        </p:txBody>
      </p:sp>
      <p:sp>
        <p:nvSpPr>
          <p:cNvPr id="16" name="Rectangle 15"/>
          <p:cNvSpPr/>
          <p:nvPr/>
        </p:nvSpPr>
        <p:spPr>
          <a:xfrm>
            <a:off x="8183879" y="1371600"/>
            <a:ext cx="3749039" cy="493776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83879" y="1371600"/>
            <a:ext cx="3749039" cy="5486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83879" y="1417320"/>
            <a:ext cx="3749039" cy="457200"/>
          </a:xfrm>
          <a:prstGeom prst="rect">
            <a:avLst/>
          </a:prstGeom>
          <a:noFill/>
        </p:spPr>
        <p:txBody>
          <a:bodyPr wrap="square">
            <a:spAutoFit/>
          </a:bodyPr>
          <a:lstStyle/>
          <a:p>
            <a:pPr algn="ctr"/>
            <a:r>
              <a:rPr sz="1500" b="1" i="0">
                <a:solidFill>
                  <a:srgbClr val="FFFFFF"/>
                </a:solidFill>
              </a:rPr>
              <a:t>ラクラク勤怠</a:t>
            </a:r>
          </a:p>
        </p:txBody>
      </p:sp>
      <p:sp>
        <p:nvSpPr>
          <p:cNvPr id="19" name="TextBox 18"/>
          <p:cNvSpPr txBox="1"/>
          <p:nvPr/>
        </p:nvSpPr>
        <p:spPr>
          <a:xfrm>
            <a:off x="8366759" y="2103120"/>
            <a:ext cx="3429000" cy="4114800"/>
          </a:xfrm>
          <a:prstGeom prst="rect">
            <a:avLst/>
          </a:prstGeom>
          <a:noFill/>
        </p:spPr>
        <p:txBody>
          <a:bodyPr wrap="square">
            <a:spAutoFit/>
          </a:bodyPr>
          <a:lstStyle/>
          <a:p>
            <a:pPr algn="l"/>
            <a:r>
              <a:rPr sz="1200" b="0" i="0">
                <a:solidFill>
                  <a:srgbClr val="1A1A2E"/>
                </a:solidFill>
              </a:rPr>
              <a:t>信頼ある先生経由でリード獲得
中小派遣会社への確度高い接触
業界知識を持つパートナーとの連携</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43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54864" cy="5715000"/>
          </a:xfrm>
          <a:prstGeom prst="rect">
            <a:avLst/>
          </a:prstGeom>
          <a:solidFill>
            <a:srgbClr val="06C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594360"/>
          </a:xfrm>
          <a:prstGeom prst="rect">
            <a:avLst/>
          </a:prstGeom>
          <a:noFill/>
        </p:spPr>
        <p:txBody>
          <a:bodyPr wrap="square">
            <a:spAutoFit/>
          </a:bodyPr>
          <a:lstStyle/>
          <a:p>
            <a:pPr algn="l"/>
            <a:r>
              <a:rPr sz="2600" b="1" i="0">
                <a:solidFill>
                  <a:srgbClr val="FFFFFF"/>
                </a:solidFill>
              </a:rPr>
              <a:t>04  紹介手数料スキーム</a:t>
            </a:r>
          </a:p>
        </p:txBody>
      </p:sp>
      <p:sp>
        <p:nvSpPr>
          <p:cNvPr id="6" name="TextBox 5"/>
          <p:cNvSpPr txBox="1"/>
          <p:nvPr/>
        </p:nvSpPr>
        <p:spPr>
          <a:xfrm>
            <a:off x="411480" y="713232"/>
            <a:ext cx="10058400" cy="365760"/>
          </a:xfrm>
          <a:prstGeom prst="rect">
            <a:avLst/>
          </a:prstGeom>
          <a:noFill/>
        </p:spPr>
        <p:txBody>
          <a:bodyPr wrap="square">
            <a:spAutoFit/>
          </a:bodyPr>
          <a:lstStyle/>
          <a:p>
            <a:pPr algn="l"/>
            <a:r>
              <a:rPr sz="1300" b="0" i="0">
                <a:solidFill>
                  <a:srgbClr val="AACCFF"/>
                </a:solidFill>
              </a:rPr>
              <a:t>業界水準を上回る還元率</a:t>
            </a:r>
          </a:p>
        </p:txBody>
      </p:sp>
      <p:sp>
        <p:nvSpPr>
          <p:cNvPr id="7" name="TextBox 6"/>
          <p:cNvSpPr txBox="1"/>
          <p:nvPr/>
        </p:nvSpPr>
        <p:spPr>
          <a:xfrm>
            <a:off x="10789920" y="6492240"/>
            <a:ext cx="1280160" cy="320040"/>
          </a:xfrm>
          <a:prstGeom prst="rect">
            <a:avLst/>
          </a:prstGeom>
          <a:noFill/>
        </p:spPr>
        <p:txBody>
          <a:bodyPr wrap="square">
            <a:spAutoFit/>
          </a:bodyPr>
          <a:lstStyle/>
          <a:p>
            <a:pPr algn="r"/>
            <a:r>
              <a:rPr sz="1100" b="0" i="0">
                <a:solidFill>
                  <a:srgbClr val="999999"/>
                </a:solidFill>
              </a:rPr>
              <a:t>6 / 10</a:t>
            </a:r>
          </a:p>
        </p:txBody>
      </p:sp>
      <p:sp>
        <p:nvSpPr>
          <p:cNvPr id="8" name="TextBox 7"/>
          <p:cNvSpPr txBox="1"/>
          <p:nvPr/>
        </p:nvSpPr>
        <p:spPr>
          <a:xfrm>
            <a:off x="365760" y="1234440"/>
            <a:ext cx="11430000" cy="411480"/>
          </a:xfrm>
          <a:prstGeom prst="rect">
            <a:avLst/>
          </a:prstGeom>
          <a:noFill/>
        </p:spPr>
        <p:txBody>
          <a:bodyPr wrap="square">
            <a:spAutoFit/>
          </a:bodyPr>
          <a:lstStyle/>
          <a:p>
            <a:pPr algn="l"/>
            <a:r>
              <a:rPr sz="1500" b="1" i="0">
                <a:solidFill>
                  <a:srgbClr val="1A1A2E"/>
                </a:solidFill>
              </a:rPr>
              <a:t>成果報酬型・在籍中はずっと収益</a:t>
            </a:r>
          </a:p>
        </p:txBody>
      </p:sp>
      <p:sp>
        <p:nvSpPr>
          <p:cNvPr id="9" name="Rectangle 8"/>
          <p:cNvSpPr/>
          <p:nvPr/>
        </p:nvSpPr>
        <p:spPr>
          <a:xfrm>
            <a:off x="320040" y="1783080"/>
            <a:ext cx="5486400" cy="2194560"/>
          </a:xfrm>
          <a:prstGeom prst="rect">
            <a:avLst/>
          </a:prstGeom>
          <a:solidFill>
            <a:srgbClr val="06C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920240"/>
            <a:ext cx="5120640" cy="457200"/>
          </a:xfrm>
          <a:prstGeom prst="rect">
            <a:avLst/>
          </a:prstGeom>
          <a:noFill/>
        </p:spPr>
        <p:txBody>
          <a:bodyPr wrap="square">
            <a:spAutoFit/>
          </a:bodyPr>
          <a:lstStyle/>
          <a:p>
            <a:pPr algn="l"/>
            <a:r>
              <a:rPr sz="1500" b="1" i="0">
                <a:solidFill>
                  <a:srgbClr val="FFFFFF"/>
                </a:solidFill>
              </a:rPr>
              <a:t>初回成約ボーナス</a:t>
            </a:r>
          </a:p>
        </p:txBody>
      </p:sp>
      <p:sp>
        <p:nvSpPr>
          <p:cNvPr id="11" name="TextBox 10"/>
          <p:cNvSpPr txBox="1"/>
          <p:nvPr/>
        </p:nvSpPr>
        <p:spPr>
          <a:xfrm>
            <a:off x="502920" y="2423160"/>
            <a:ext cx="5120640" cy="822960"/>
          </a:xfrm>
          <a:prstGeom prst="rect">
            <a:avLst/>
          </a:prstGeom>
          <a:noFill/>
        </p:spPr>
        <p:txBody>
          <a:bodyPr wrap="square">
            <a:spAutoFit/>
          </a:bodyPr>
          <a:lstStyle/>
          <a:p>
            <a:pPr algn="ctr"/>
            <a:r>
              <a:rPr sz="4200" b="1" i="0">
                <a:solidFill>
                  <a:srgbClr val="FFFFFF"/>
                </a:solidFill>
              </a:rPr>
              <a:t>¥10,000</a:t>
            </a:r>
          </a:p>
        </p:txBody>
      </p:sp>
      <p:sp>
        <p:nvSpPr>
          <p:cNvPr id="12" name="TextBox 11"/>
          <p:cNvSpPr txBox="1"/>
          <p:nvPr/>
        </p:nvSpPr>
        <p:spPr>
          <a:xfrm>
            <a:off x="502920" y="3383280"/>
            <a:ext cx="5120640" cy="365760"/>
          </a:xfrm>
          <a:prstGeom prst="rect">
            <a:avLst/>
          </a:prstGeom>
          <a:noFill/>
        </p:spPr>
        <p:txBody>
          <a:bodyPr wrap="square">
            <a:spAutoFit/>
          </a:bodyPr>
          <a:lstStyle/>
          <a:p>
            <a:pPr algn="ctr"/>
            <a:r>
              <a:rPr sz="1200" b="0" i="0">
                <a:solidFill>
                  <a:srgbClr val="DCFBE5"/>
                </a:solidFill>
              </a:rPr>
              <a:t>30日無料トライアル完了時に支給</a:t>
            </a:r>
          </a:p>
        </p:txBody>
      </p:sp>
      <p:sp>
        <p:nvSpPr>
          <p:cNvPr id="13" name="Rectangle 12"/>
          <p:cNvSpPr/>
          <p:nvPr/>
        </p:nvSpPr>
        <p:spPr>
          <a:xfrm>
            <a:off x="5989320" y="1783080"/>
            <a:ext cx="5852160" cy="219456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72200" y="1920240"/>
            <a:ext cx="5486400" cy="457200"/>
          </a:xfrm>
          <a:prstGeom prst="rect">
            <a:avLst/>
          </a:prstGeom>
          <a:noFill/>
        </p:spPr>
        <p:txBody>
          <a:bodyPr wrap="square">
            <a:spAutoFit/>
          </a:bodyPr>
          <a:lstStyle/>
          <a:p>
            <a:pPr algn="l"/>
            <a:r>
              <a:rPr sz="1500" b="1" i="0">
                <a:solidFill>
                  <a:srgbClr val="FFFFFF"/>
                </a:solidFill>
              </a:rPr>
              <a:t>継続紹介手数料</a:t>
            </a:r>
          </a:p>
        </p:txBody>
      </p:sp>
      <p:sp>
        <p:nvSpPr>
          <p:cNvPr id="15" name="TextBox 14"/>
          <p:cNvSpPr txBox="1"/>
          <p:nvPr/>
        </p:nvSpPr>
        <p:spPr>
          <a:xfrm>
            <a:off x="6172200" y="2423160"/>
            <a:ext cx="5486400" cy="822960"/>
          </a:xfrm>
          <a:prstGeom prst="rect">
            <a:avLst/>
          </a:prstGeom>
          <a:noFill/>
        </p:spPr>
        <p:txBody>
          <a:bodyPr wrap="square">
            <a:spAutoFit/>
          </a:bodyPr>
          <a:lstStyle/>
          <a:p>
            <a:pPr algn="ctr"/>
            <a:r>
              <a:rPr sz="3600" b="1" i="0">
                <a:solidFill>
                  <a:srgbClr val="FFFFFF"/>
                </a:solidFill>
              </a:rPr>
              <a:t>15〜20% / 月</a:t>
            </a:r>
          </a:p>
        </p:txBody>
      </p:sp>
      <p:sp>
        <p:nvSpPr>
          <p:cNvPr id="16" name="TextBox 15"/>
          <p:cNvSpPr txBox="1"/>
          <p:nvPr/>
        </p:nvSpPr>
        <p:spPr>
          <a:xfrm>
            <a:off x="6172200" y="3383280"/>
            <a:ext cx="5486400" cy="365760"/>
          </a:xfrm>
          <a:prstGeom prst="rect">
            <a:avLst/>
          </a:prstGeom>
          <a:noFill/>
        </p:spPr>
        <p:txBody>
          <a:bodyPr wrap="square">
            <a:spAutoFit/>
          </a:bodyPr>
          <a:lstStyle/>
          <a:p>
            <a:pPr algn="ctr"/>
            <a:r>
              <a:rPr sz="1200" b="0" i="0">
                <a:solidFill>
                  <a:srgbClr val="EFF6FF"/>
                </a:solidFill>
              </a:rPr>
              <a:t>契約継続中 12ヶ月間 お支払い</a:t>
            </a:r>
          </a:p>
        </p:txBody>
      </p:sp>
      <p:sp>
        <p:nvSpPr>
          <p:cNvPr id="17" name="TextBox 16"/>
          <p:cNvSpPr txBox="1"/>
          <p:nvPr/>
        </p:nvSpPr>
        <p:spPr>
          <a:xfrm>
            <a:off x="365760" y="4160520"/>
            <a:ext cx="4572000" cy="365760"/>
          </a:xfrm>
          <a:prstGeom prst="rect">
            <a:avLst/>
          </a:prstGeom>
          <a:noFill/>
        </p:spPr>
        <p:txBody>
          <a:bodyPr wrap="square">
            <a:spAutoFit/>
          </a:bodyPr>
          <a:lstStyle/>
          <a:p>
            <a:pPr algn="l"/>
            <a:r>
              <a:rPr sz="1400" b="1" i="0">
                <a:solidFill>
                  <a:srgbClr val="1A1A2E"/>
                </a:solidFill>
              </a:rPr>
              <a:t>シミュレーション例</a:t>
            </a:r>
          </a:p>
        </p:txBody>
      </p:sp>
      <p:sp>
        <p:nvSpPr>
          <p:cNvPr id="18" name="Rectangle 17"/>
          <p:cNvSpPr/>
          <p:nvPr/>
        </p:nvSpPr>
        <p:spPr>
          <a:xfrm>
            <a:off x="320040" y="4572000"/>
            <a:ext cx="11521440" cy="38404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1479" y="4599432"/>
            <a:ext cx="3749039" cy="329184"/>
          </a:xfrm>
          <a:prstGeom prst="rect">
            <a:avLst/>
          </a:prstGeom>
          <a:noFill/>
        </p:spPr>
        <p:txBody>
          <a:bodyPr wrap="square">
            <a:spAutoFit/>
          </a:bodyPr>
          <a:lstStyle/>
          <a:p>
            <a:pPr algn="l"/>
            <a:r>
              <a:rPr sz="1100" b="1" i="0">
                <a:solidFill>
                  <a:srgbClr val="FFFFFF"/>
                </a:solidFill>
              </a:rPr>
              <a:t>紹介ケース</a:t>
            </a:r>
          </a:p>
        </p:txBody>
      </p:sp>
      <p:sp>
        <p:nvSpPr>
          <p:cNvPr id="20" name="TextBox 19"/>
          <p:cNvSpPr txBox="1"/>
          <p:nvPr/>
        </p:nvSpPr>
        <p:spPr>
          <a:xfrm>
            <a:off x="4343400" y="4599432"/>
            <a:ext cx="2194560" cy="329184"/>
          </a:xfrm>
          <a:prstGeom prst="rect">
            <a:avLst/>
          </a:prstGeom>
          <a:noFill/>
        </p:spPr>
        <p:txBody>
          <a:bodyPr wrap="square">
            <a:spAutoFit/>
          </a:bodyPr>
          <a:lstStyle/>
          <a:p>
            <a:pPr algn="l"/>
            <a:r>
              <a:rPr sz="1100" b="1" i="0">
                <a:solidFill>
                  <a:srgbClr val="FFFFFF"/>
                </a:solidFill>
              </a:rPr>
              <a:t>顧問先の月額</a:t>
            </a:r>
          </a:p>
        </p:txBody>
      </p:sp>
      <p:sp>
        <p:nvSpPr>
          <p:cNvPr id="21" name="TextBox 20"/>
          <p:cNvSpPr txBox="1"/>
          <p:nvPr/>
        </p:nvSpPr>
        <p:spPr>
          <a:xfrm>
            <a:off x="6720840" y="4599432"/>
            <a:ext cx="2194560" cy="329184"/>
          </a:xfrm>
          <a:prstGeom prst="rect">
            <a:avLst/>
          </a:prstGeom>
          <a:noFill/>
        </p:spPr>
        <p:txBody>
          <a:bodyPr wrap="square">
            <a:spAutoFit/>
          </a:bodyPr>
          <a:lstStyle/>
          <a:p>
            <a:pPr algn="l"/>
            <a:r>
              <a:rPr sz="1100" b="1" i="0">
                <a:solidFill>
                  <a:srgbClr val="FFFFFF"/>
                </a:solidFill>
              </a:rPr>
              <a:t>月次紹介料</a:t>
            </a:r>
          </a:p>
        </p:txBody>
      </p:sp>
      <p:sp>
        <p:nvSpPr>
          <p:cNvPr id="22" name="TextBox 21"/>
          <p:cNvSpPr txBox="1"/>
          <p:nvPr/>
        </p:nvSpPr>
        <p:spPr>
          <a:xfrm>
            <a:off x="9098280" y="4599432"/>
            <a:ext cx="2651760" cy="329184"/>
          </a:xfrm>
          <a:prstGeom prst="rect">
            <a:avLst/>
          </a:prstGeom>
          <a:noFill/>
        </p:spPr>
        <p:txBody>
          <a:bodyPr wrap="square">
            <a:spAutoFit/>
          </a:bodyPr>
          <a:lstStyle/>
          <a:p>
            <a:pPr algn="l"/>
            <a:r>
              <a:rPr sz="1100" b="1" i="0">
                <a:solidFill>
                  <a:srgbClr val="FFFFFF"/>
                </a:solidFill>
              </a:rPr>
              <a:t>12ヶ月合計</a:t>
            </a:r>
          </a:p>
        </p:txBody>
      </p:sp>
      <p:sp>
        <p:nvSpPr>
          <p:cNvPr id="23" name="Rectangle 22"/>
          <p:cNvSpPr/>
          <p:nvPr/>
        </p:nvSpPr>
        <p:spPr>
          <a:xfrm>
            <a:off x="320040" y="4956048"/>
            <a:ext cx="1152144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479" y="5065776"/>
            <a:ext cx="3749039" cy="329184"/>
          </a:xfrm>
          <a:prstGeom prst="rect">
            <a:avLst/>
          </a:prstGeom>
          <a:noFill/>
        </p:spPr>
        <p:txBody>
          <a:bodyPr wrap="square">
            <a:spAutoFit/>
          </a:bodyPr>
          <a:lstStyle/>
          <a:p>
            <a:pPr algn="l"/>
            <a:r>
              <a:rPr sz="1100" b="0" i="0">
                <a:solidFill>
                  <a:srgbClr val="1A1A2E"/>
                </a:solidFill>
              </a:rPr>
              <a:t>100名規模 1社紹介→成約</a:t>
            </a:r>
          </a:p>
        </p:txBody>
      </p:sp>
      <p:sp>
        <p:nvSpPr>
          <p:cNvPr id="25" name="TextBox 24"/>
          <p:cNvSpPr txBox="1"/>
          <p:nvPr/>
        </p:nvSpPr>
        <p:spPr>
          <a:xfrm>
            <a:off x="4343400" y="5065776"/>
            <a:ext cx="2194560" cy="329184"/>
          </a:xfrm>
          <a:prstGeom prst="rect">
            <a:avLst/>
          </a:prstGeom>
          <a:noFill/>
        </p:spPr>
        <p:txBody>
          <a:bodyPr wrap="square">
            <a:spAutoFit/>
          </a:bodyPr>
          <a:lstStyle/>
          <a:p>
            <a:pPr algn="l"/>
            <a:r>
              <a:rPr sz="1100" b="0" i="0">
                <a:solidFill>
                  <a:srgbClr val="1A1A2E"/>
                </a:solidFill>
              </a:rPr>
              <a:t>月額売上 ¥20,000</a:t>
            </a:r>
          </a:p>
        </p:txBody>
      </p:sp>
      <p:sp>
        <p:nvSpPr>
          <p:cNvPr id="26" name="TextBox 25"/>
          <p:cNvSpPr txBox="1"/>
          <p:nvPr/>
        </p:nvSpPr>
        <p:spPr>
          <a:xfrm>
            <a:off x="6720840" y="5065776"/>
            <a:ext cx="2194560" cy="329184"/>
          </a:xfrm>
          <a:prstGeom prst="rect">
            <a:avLst/>
          </a:prstGeom>
          <a:noFill/>
        </p:spPr>
        <p:txBody>
          <a:bodyPr wrap="square">
            <a:spAutoFit/>
          </a:bodyPr>
          <a:lstStyle/>
          <a:p>
            <a:pPr algn="l"/>
            <a:r>
              <a:rPr sz="1100" b="0" i="0">
                <a:solidFill>
                  <a:srgbClr val="1A1A2E"/>
                </a:solidFill>
              </a:rPr>
              <a:t>紹介料 ¥3,000/月</a:t>
            </a:r>
          </a:p>
        </p:txBody>
      </p:sp>
      <p:sp>
        <p:nvSpPr>
          <p:cNvPr id="27" name="TextBox 26"/>
          <p:cNvSpPr txBox="1"/>
          <p:nvPr/>
        </p:nvSpPr>
        <p:spPr>
          <a:xfrm>
            <a:off x="9098280" y="5065776"/>
            <a:ext cx="2651760" cy="329184"/>
          </a:xfrm>
          <a:prstGeom prst="rect">
            <a:avLst/>
          </a:prstGeom>
          <a:noFill/>
        </p:spPr>
        <p:txBody>
          <a:bodyPr wrap="square">
            <a:spAutoFit/>
          </a:bodyPr>
          <a:lstStyle/>
          <a:p>
            <a:pPr algn="l"/>
            <a:r>
              <a:rPr sz="1100" b="1" i="0">
                <a:solidFill>
                  <a:srgbClr val="049A40"/>
                </a:solidFill>
              </a:rPr>
              <a:t>¥10,000 + ¥36,000 = ¥46,000</a:t>
            </a:r>
          </a:p>
        </p:txBody>
      </p:sp>
      <p:sp>
        <p:nvSpPr>
          <p:cNvPr id="28" name="Rectangle 27"/>
          <p:cNvSpPr/>
          <p:nvPr/>
        </p:nvSpPr>
        <p:spPr>
          <a:xfrm>
            <a:off x="320040" y="5458968"/>
            <a:ext cx="11521440" cy="45720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1479" y="5568696"/>
            <a:ext cx="3749039" cy="329184"/>
          </a:xfrm>
          <a:prstGeom prst="rect">
            <a:avLst/>
          </a:prstGeom>
          <a:noFill/>
        </p:spPr>
        <p:txBody>
          <a:bodyPr wrap="square">
            <a:spAutoFit/>
          </a:bodyPr>
          <a:lstStyle/>
          <a:p>
            <a:pPr algn="l"/>
            <a:r>
              <a:rPr sz="1100" b="0" i="0">
                <a:solidFill>
                  <a:srgbClr val="1A1A2E"/>
                </a:solidFill>
              </a:rPr>
              <a:t>100名規模 5社紹介→成約</a:t>
            </a:r>
          </a:p>
        </p:txBody>
      </p:sp>
      <p:sp>
        <p:nvSpPr>
          <p:cNvPr id="30" name="TextBox 29"/>
          <p:cNvSpPr txBox="1"/>
          <p:nvPr/>
        </p:nvSpPr>
        <p:spPr>
          <a:xfrm>
            <a:off x="4343400" y="5568696"/>
            <a:ext cx="2194560" cy="329184"/>
          </a:xfrm>
          <a:prstGeom prst="rect">
            <a:avLst/>
          </a:prstGeom>
          <a:noFill/>
        </p:spPr>
        <p:txBody>
          <a:bodyPr wrap="square">
            <a:spAutoFit/>
          </a:bodyPr>
          <a:lstStyle/>
          <a:p>
            <a:pPr algn="l"/>
            <a:r>
              <a:rPr sz="1100" b="0" i="0">
                <a:solidFill>
                  <a:srgbClr val="1A1A2E"/>
                </a:solidFill>
              </a:rPr>
              <a:t>月額売上 ¥100,000</a:t>
            </a:r>
          </a:p>
        </p:txBody>
      </p:sp>
      <p:sp>
        <p:nvSpPr>
          <p:cNvPr id="31" name="TextBox 30"/>
          <p:cNvSpPr txBox="1"/>
          <p:nvPr/>
        </p:nvSpPr>
        <p:spPr>
          <a:xfrm>
            <a:off x="6720840" y="5568696"/>
            <a:ext cx="2194560" cy="329184"/>
          </a:xfrm>
          <a:prstGeom prst="rect">
            <a:avLst/>
          </a:prstGeom>
          <a:noFill/>
        </p:spPr>
        <p:txBody>
          <a:bodyPr wrap="square">
            <a:spAutoFit/>
          </a:bodyPr>
          <a:lstStyle/>
          <a:p>
            <a:pPr algn="l"/>
            <a:r>
              <a:rPr sz="1100" b="0" i="0">
                <a:solidFill>
                  <a:srgbClr val="1A1A2E"/>
                </a:solidFill>
              </a:rPr>
              <a:t>紹介料 ¥15,000/月</a:t>
            </a:r>
          </a:p>
        </p:txBody>
      </p:sp>
      <p:sp>
        <p:nvSpPr>
          <p:cNvPr id="32" name="TextBox 31"/>
          <p:cNvSpPr txBox="1"/>
          <p:nvPr/>
        </p:nvSpPr>
        <p:spPr>
          <a:xfrm>
            <a:off x="9098280" y="5568696"/>
            <a:ext cx="2651760" cy="329184"/>
          </a:xfrm>
          <a:prstGeom prst="rect">
            <a:avLst/>
          </a:prstGeom>
          <a:noFill/>
        </p:spPr>
        <p:txBody>
          <a:bodyPr wrap="square">
            <a:spAutoFit/>
          </a:bodyPr>
          <a:lstStyle/>
          <a:p>
            <a:pPr algn="l"/>
            <a:r>
              <a:rPr sz="1100" b="1" i="0">
                <a:solidFill>
                  <a:srgbClr val="049A40"/>
                </a:solidFill>
              </a:rPr>
              <a:t>¥50,000 + ¥180,000 = ¥230,000</a:t>
            </a:r>
          </a:p>
        </p:txBody>
      </p:sp>
      <p:sp>
        <p:nvSpPr>
          <p:cNvPr id="33" name="Rectangle 32"/>
          <p:cNvSpPr/>
          <p:nvPr/>
        </p:nvSpPr>
        <p:spPr>
          <a:xfrm>
            <a:off x="320040" y="5961888"/>
            <a:ext cx="1152144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11479" y="6071616"/>
            <a:ext cx="3749039" cy="329184"/>
          </a:xfrm>
          <a:prstGeom prst="rect">
            <a:avLst/>
          </a:prstGeom>
          <a:noFill/>
        </p:spPr>
        <p:txBody>
          <a:bodyPr wrap="square">
            <a:spAutoFit/>
          </a:bodyPr>
          <a:lstStyle/>
          <a:p>
            <a:pPr algn="l"/>
            <a:r>
              <a:rPr sz="1100" b="0" i="0">
                <a:solidFill>
                  <a:srgbClr val="1A1A2E"/>
                </a:solidFill>
              </a:rPr>
              <a:t>300名規模 3社紹介→成約</a:t>
            </a:r>
          </a:p>
        </p:txBody>
      </p:sp>
      <p:sp>
        <p:nvSpPr>
          <p:cNvPr id="35" name="TextBox 34"/>
          <p:cNvSpPr txBox="1"/>
          <p:nvPr/>
        </p:nvSpPr>
        <p:spPr>
          <a:xfrm>
            <a:off x="4343400" y="6071616"/>
            <a:ext cx="2194560" cy="329184"/>
          </a:xfrm>
          <a:prstGeom prst="rect">
            <a:avLst/>
          </a:prstGeom>
          <a:noFill/>
        </p:spPr>
        <p:txBody>
          <a:bodyPr wrap="square">
            <a:spAutoFit/>
          </a:bodyPr>
          <a:lstStyle/>
          <a:p>
            <a:pPr algn="l"/>
            <a:r>
              <a:rPr sz="1100" b="0" i="0">
                <a:solidFill>
                  <a:srgbClr val="1A1A2E"/>
                </a:solidFill>
              </a:rPr>
              <a:t>月額売上 ¥180,000</a:t>
            </a:r>
          </a:p>
        </p:txBody>
      </p:sp>
      <p:sp>
        <p:nvSpPr>
          <p:cNvPr id="36" name="TextBox 35"/>
          <p:cNvSpPr txBox="1"/>
          <p:nvPr/>
        </p:nvSpPr>
        <p:spPr>
          <a:xfrm>
            <a:off x="6720840" y="6071616"/>
            <a:ext cx="2194560" cy="329184"/>
          </a:xfrm>
          <a:prstGeom prst="rect">
            <a:avLst/>
          </a:prstGeom>
          <a:noFill/>
        </p:spPr>
        <p:txBody>
          <a:bodyPr wrap="square">
            <a:spAutoFit/>
          </a:bodyPr>
          <a:lstStyle/>
          <a:p>
            <a:pPr algn="l"/>
            <a:r>
              <a:rPr sz="1100" b="0" i="0">
                <a:solidFill>
                  <a:srgbClr val="1A1A2E"/>
                </a:solidFill>
              </a:rPr>
              <a:t>紹介料 ¥27,000/月</a:t>
            </a:r>
          </a:p>
        </p:txBody>
      </p:sp>
      <p:sp>
        <p:nvSpPr>
          <p:cNvPr id="37" name="TextBox 36"/>
          <p:cNvSpPr txBox="1"/>
          <p:nvPr/>
        </p:nvSpPr>
        <p:spPr>
          <a:xfrm>
            <a:off x="9098280" y="6071616"/>
            <a:ext cx="2651760" cy="329184"/>
          </a:xfrm>
          <a:prstGeom prst="rect">
            <a:avLst/>
          </a:prstGeom>
          <a:noFill/>
        </p:spPr>
        <p:txBody>
          <a:bodyPr wrap="square">
            <a:spAutoFit/>
          </a:bodyPr>
          <a:lstStyle/>
          <a:p>
            <a:pPr algn="l"/>
            <a:r>
              <a:rPr sz="1100" b="1" i="0">
                <a:solidFill>
                  <a:srgbClr val="049A40"/>
                </a:solidFill>
              </a:rPr>
              <a:t>¥30,000 + ¥324,000 = ¥354,000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43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54864" cy="5715000"/>
          </a:xfrm>
          <a:prstGeom prst="rect">
            <a:avLst/>
          </a:prstGeom>
          <a:solidFill>
            <a:srgbClr val="06C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594360"/>
          </a:xfrm>
          <a:prstGeom prst="rect">
            <a:avLst/>
          </a:prstGeom>
          <a:noFill/>
        </p:spPr>
        <p:txBody>
          <a:bodyPr wrap="square">
            <a:spAutoFit/>
          </a:bodyPr>
          <a:lstStyle/>
          <a:p>
            <a:pPr algn="l"/>
            <a:r>
              <a:rPr sz="2600" b="1" i="0">
                <a:solidFill>
                  <a:srgbClr val="FFFFFF"/>
                </a:solidFill>
              </a:rPr>
              <a:t>05  紹介の流れ</a:t>
            </a:r>
          </a:p>
        </p:txBody>
      </p:sp>
      <p:sp>
        <p:nvSpPr>
          <p:cNvPr id="6" name="TextBox 5"/>
          <p:cNvSpPr txBox="1"/>
          <p:nvPr/>
        </p:nvSpPr>
        <p:spPr>
          <a:xfrm>
            <a:off x="411480" y="713232"/>
            <a:ext cx="10058400" cy="365760"/>
          </a:xfrm>
          <a:prstGeom prst="rect">
            <a:avLst/>
          </a:prstGeom>
          <a:noFill/>
        </p:spPr>
        <p:txBody>
          <a:bodyPr wrap="square">
            <a:spAutoFit/>
          </a:bodyPr>
          <a:lstStyle/>
          <a:p>
            <a:pPr algn="l"/>
            <a:r>
              <a:rPr sz="1300" b="0" i="0">
                <a:solidFill>
                  <a:srgbClr val="AACCFF"/>
                </a:solidFill>
              </a:rPr>
              <a:t>先生の手間は最小限に設計しています</a:t>
            </a:r>
          </a:p>
        </p:txBody>
      </p:sp>
      <p:sp>
        <p:nvSpPr>
          <p:cNvPr id="7" name="TextBox 6"/>
          <p:cNvSpPr txBox="1"/>
          <p:nvPr/>
        </p:nvSpPr>
        <p:spPr>
          <a:xfrm>
            <a:off x="10789920" y="6492240"/>
            <a:ext cx="1280160" cy="320040"/>
          </a:xfrm>
          <a:prstGeom prst="rect">
            <a:avLst/>
          </a:prstGeom>
          <a:noFill/>
        </p:spPr>
        <p:txBody>
          <a:bodyPr wrap="square">
            <a:spAutoFit/>
          </a:bodyPr>
          <a:lstStyle/>
          <a:p>
            <a:pPr algn="r"/>
            <a:r>
              <a:rPr sz="1100" b="0" i="0">
                <a:solidFill>
                  <a:srgbClr val="999999"/>
                </a:solidFill>
              </a:rPr>
              <a:t>7 / 10</a:t>
            </a:r>
          </a:p>
        </p:txBody>
      </p:sp>
      <p:sp>
        <p:nvSpPr>
          <p:cNvPr id="8" name="Rectangle 7"/>
          <p:cNvSpPr/>
          <p:nvPr/>
        </p:nvSpPr>
        <p:spPr>
          <a:xfrm>
            <a:off x="320040" y="1371600"/>
            <a:ext cx="2697480" cy="420624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0040" y="1371600"/>
            <a:ext cx="2697480" cy="777240"/>
          </a:xfrm>
          <a:prstGeom prst="rect">
            <a:avLst/>
          </a:prstGeom>
          <a:solidFill>
            <a:srgbClr val="06C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1417320"/>
            <a:ext cx="2697480" cy="365760"/>
          </a:xfrm>
          <a:prstGeom prst="rect">
            <a:avLst/>
          </a:prstGeom>
          <a:noFill/>
        </p:spPr>
        <p:txBody>
          <a:bodyPr wrap="square">
            <a:spAutoFit/>
          </a:bodyPr>
          <a:lstStyle/>
          <a:p>
            <a:pPr algn="ctr"/>
            <a:r>
              <a:rPr sz="1200" b="1" i="0">
                <a:solidFill>
                  <a:srgbClr val="FFFFFF"/>
                </a:solidFill>
              </a:rPr>
              <a:t>STEP 1</a:t>
            </a:r>
          </a:p>
        </p:txBody>
      </p:sp>
      <p:sp>
        <p:nvSpPr>
          <p:cNvPr id="11" name="TextBox 10"/>
          <p:cNvSpPr txBox="1"/>
          <p:nvPr/>
        </p:nvSpPr>
        <p:spPr>
          <a:xfrm>
            <a:off x="320040" y="1801368"/>
            <a:ext cx="2697480" cy="365760"/>
          </a:xfrm>
          <a:prstGeom prst="rect">
            <a:avLst/>
          </a:prstGeom>
          <a:noFill/>
        </p:spPr>
        <p:txBody>
          <a:bodyPr wrap="square">
            <a:spAutoFit/>
          </a:bodyPr>
          <a:lstStyle/>
          <a:p>
            <a:pPr algn="ctr"/>
            <a:r>
              <a:rPr sz="1400" b="1" i="0">
                <a:solidFill>
                  <a:srgbClr val="FFFFFF"/>
                </a:solidFill>
              </a:rPr>
              <a:t>顧問先にご紹介</a:t>
            </a:r>
          </a:p>
        </p:txBody>
      </p:sp>
      <p:sp>
        <p:nvSpPr>
          <p:cNvPr id="12" name="TextBox 11"/>
          <p:cNvSpPr txBox="1"/>
          <p:nvPr/>
        </p:nvSpPr>
        <p:spPr>
          <a:xfrm>
            <a:off x="457200" y="2331720"/>
            <a:ext cx="2423160" cy="3200400"/>
          </a:xfrm>
          <a:prstGeom prst="rect">
            <a:avLst/>
          </a:prstGeom>
          <a:noFill/>
        </p:spPr>
        <p:txBody>
          <a:bodyPr wrap="square">
            <a:spAutoFit/>
          </a:bodyPr>
          <a:lstStyle/>
          <a:p>
            <a:pPr algn="ctr"/>
            <a:r>
              <a:rPr sz="1200" b="0" i="0">
                <a:solidFill>
                  <a:srgbClr val="1A1A2E"/>
                </a:solidFill>
              </a:rPr>
              <a:t>ご訪問時の雑談で
「こんなサービスありますよ」と
お伝えいただくだけ</a:t>
            </a:r>
          </a:p>
        </p:txBody>
      </p:sp>
      <p:sp>
        <p:nvSpPr>
          <p:cNvPr id="13" name="TextBox 12"/>
          <p:cNvSpPr txBox="1"/>
          <p:nvPr/>
        </p:nvSpPr>
        <p:spPr>
          <a:xfrm>
            <a:off x="3108960" y="3200400"/>
            <a:ext cx="228600" cy="457200"/>
          </a:xfrm>
          <a:prstGeom prst="rect">
            <a:avLst/>
          </a:prstGeom>
          <a:noFill/>
        </p:spPr>
        <p:txBody>
          <a:bodyPr wrap="square">
            <a:spAutoFit/>
          </a:bodyPr>
          <a:lstStyle/>
          <a:p>
            <a:pPr algn="ctr"/>
            <a:r>
              <a:rPr sz="2000" b="1" i="0">
                <a:solidFill>
                  <a:srgbClr val="555555"/>
                </a:solidFill>
              </a:rPr>
              <a:t>→</a:t>
            </a:r>
          </a:p>
        </p:txBody>
      </p:sp>
      <p:sp>
        <p:nvSpPr>
          <p:cNvPr id="14" name="Rectangle 13"/>
          <p:cNvSpPr/>
          <p:nvPr/>
        </p:nvSpPr>
        <p:spPr>
          <a:xfrm>
            <a:off x="3200400" y="1371600"/>
            <a:ext cx="2697480" cy="420624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00400" y="1371600"/>
            <a:ext cx="2697480" cy="77724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00400" y="1417320"/>
            <a:ext cx="2697480" cy="365760"/>
          </a:xfrm>
          <a:prstGeom prst="rect">
            <a:avLst/>
          </a:prstGeom>
          <a:noFill/>
        </p:spPr>
        <p:txBody>
          <a:bodyPr wrap="square">
            <a:spAutoFit/>
          </a:bodyPr>
          <a:lstStyle/>
          <a:p>
            <a:pPr algn="ctr"/>
            <a:r>
              <a:rPr sz="1200" b="1" i="0">
                <a:solidFill>
                  <a:srgbClr val="FFFFFF"/>
                </a:solidFill>
              </a:rPr>
              <a:t>STEP 2</a:t>
            </a:r>
          </a:p>
        </p:txBody>
      </p:sp>
      <p:sp>
        <p:nvSpPr>
          <p:cNvPr id="17" name="TextBox 16"/>
          <p:cNvSpPr txBox="1"/>
          <p:nvPr/>
        </p:nvSpPr>
        <p:spPr>
          <a:xfrm>
            <a:off x="3200400" y="1801368"/>
            <a:ext cx="2697480" cy="365760"/>
          </a:xfrm>
          <a:prstGeom prst="rect">
            <a:avLst/>
          </a:prstGeom>
          <a:noFill/>
        </p:spPr>
        <p:txBody>
          <a:bodyPr wrap="square">
            <a:spAutoFit/>
          </a:bodyPr>
          <a:lstStyle/>
          <a:p>
            <a:pPr algn="ctr"/>
            <a:r>
              <a:rPr sz="1400" b="1" i="0">
                <a:solidFill>
                  <a:srgbClr val="FFFFFF"/>
                </a:solidFill>
              </a:rPr>
              <a:t>当社が商談を担当</a:t>
            </a:r>
          </a:p>
        </p:txBody>
      </p:sp>
      <p:sp>
        <p:nvSpPr>
          <p:cNvPr id="18" name="TextBox 17"/>
          <p:cNvSpPr txBox="1"/>
          <p:nvPr/>
        </p:nvSpPr>
        <p:spPr>
          <a:xfrm>
            <a:off x="3337560" y="2331720"/>
            <a:ext cx="2423160" cy="3200400"/>
          </a:xfrm>
          <a:prstGeom prst="rect">
            <a:avLst/>
          </a:prstGeom>
          <a:noFill/>
        </p:spPr>
        <p:txBody>
          <a:bodyPr wrap="square">
            <a:spAutoFit/>
          </a:bodyPr>
          <a:lstStyle/>
          <a:p>
            <a:pPr algn="ctr"/>
            <a:r>
              <a:rPr sz="1200" b="0" i="0">
                <a:solidFill>
                  <a:srgbClr val="1A1A2E"/>
                </a:solidFill>
              </a:rPr>
              <a:t>ご紹介いただいた後は
当社が直接デモ・導入支援を実施
先生の同席は不要</a:t>
            </a:r>
          </a:p>
        </p:txBody>
      </p:sp>
      <p:sp>
        <p:nvSpPr>
          <p:cNvPr id="19" name="TextBox 18"/>
          <p:cNvSpPr txBox="1"/>
          <p:nvPr/>
        </p:nvSpPr>
        <p:spPr>
          <a:xfrm>
            <a:off x="5989320" y="3200400"/>
            <a:ext cx="228600" cy="457200"/>
          </a:xfrm>
          <a:prstGeom prst="rect">
            <a:avLst/>
          </a:prstGeom>
          <a:noFill/>
        </p:spPr>
        <p:txBody>
          <a:bodyPr wrap="square">
            <a:spAutoFit/>
          </a:bodyPr>
          <a:lstStyle/>
          <a:p>
            <a:pPr algn="ctr"/>
            <a:r>
              <a:rPr sz="2000" b="1" i="0">
                <a:solidFill>
                  <a:srgbClr val="555555"/>
                </a:solidFill>
              </a:rPr>
              <a:t>→</a:t>
            </a:r>
          </a:p>
        </p:txBody>
      </p:sp>
      <p:sp>
        <p:nvSpPr>
          <p:cNvPr id="20" name="Rectangle 19"/>
          <p:cNvSpPr/>
          <p:nvPr/>
        </p:nvSpPr>
        <p:spPr>
          <a:xfrm>
            <a:off x="6080759" y="1371600"/>
            <a:ext cx="2697480" cy="420624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0759" y="1371600"/>
            <a:ext cx="2697480" cy="777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80759" y="1417320"/>
            <a:ext cx="2697480" cy="365760"/>
          </a:xfrm>
          <a:prstGeom prst="rect">
            <a:avLst/>
          </a:prstGeom>
          <a:noFill/>
        </p:spPr>
        <p:txBody>
          <a:bodyPr wrap="square">
            <a:spAutoFit/>
          </a:bodyPr>
          <a:lstStyle/>
          <a:p>
            <a:pPr algn="ctr"/>
            <a:r>
              <a:rPr sz="1200" b="1" i="0">
                <a:solidFill>
                  <a:srgbClr val="FFFFFF"/>
                </a:solidFill>
              </a:rPr>
              <a:t>STEP 3</a:t>
            </a:r>
          </a:p>
        </p:txBody>
      </p:sp>
      <p:sp>
        <p:nvSpPr>
          <p:cNvPr id="23" name="TextBox 22"/>
          <p:cNvSpPr txBox="1"/>
          <p:nvPr/>
        </p:nvSpPr>
        <p:spPr>
          <a:xfrm>
            <a:off x="6080759" y="1801368"/>
            <a:ext cx="2697480" cy="365760"/>
          </a:xfrm>
          <a:prstGeom prst="rect">
            <a:avLst/>
          </a:prstGeom>
          <a:noFill/>
        </p:spPr>
        <p:txBody>
          <a:bodyPr wrap="square">
            <a:spAutoFit/>
          </a:bodyPr>
          <a:lstStyle/>
          <a:p>
            <a:pPr algn="ctr"/>
            <a:r>
              <a:rPr sz="1400" b="1" i="0">
                <a:solidFill>
                  <a:srgbClr val="FFFFFF"/>
                </a:solidFill>
              </a:rPr>
              <a:t>30日無料トライアル</a:t>
            </a:r>
          </a:p>
        </p:txBody>
      </p:sp>
      <p:sp>
        <p:nvSpPr>
          <p:cNvPr id="24" name="TextBox 23"/>
          <p:cNvSpPr txBox="1"/>
          <p:nvPr/>
        </p:nvSpPr>
        <p:spPr>
          <a:xfrm>
            <a:off x="6217920" y="2331720"/>
            <a:ext cx="2423160" cy="3200400"/>
          </a:xfrm>
          <a:prstGeom prst="rect">
            <a:avLst/>
          </a:prstGeom>
          <a:noFill/>
        </p:spPr>
        <p:txBody>
          <a:bodyPr wrap="square">
            <a:spAutoFit/>
          </a:bodyPr>
          <a:lstStyle/>
          <a:p>
            <a:pPr algn="ctr"/>
            <a:r>
              <a:rPr sz="1200" b="0" i="0">
                <a:solidFill>
                  <a:srgbClr val="1A1A2E"/>
                </a:solidFill>
              </a:rPr>
              <a:t>顧問先に体験していただき
社内で評価
離脱リスクなし</a:t>
            </a:r>
          </a:p>
        </p:txBody>
      </p:sp>
      <p:sp>
        <p:nvSpPr>
          <p:cNvPr id="25" name="TextBox 24"/>
          <p:cNvSpPr txBox="1"/>
          <p:nvPr/>
        </p:nvSpPr>
        <p:spPr>
          <a:xfrm>
            <a:off x="8869680" y="3200400"/>
            <a:ext cx="228600" cy="457200"/>
          </a:xfrm>
          <a:prstGeom prst="rect">
            <a:avLst/>
          </a:prstGeom>
          <a:noFill/>
        </p:spPr>
        <p:txBody>
          <a:bodyPr wrap="square">
            <a:spAutoFit/>
          </a:bodyPr>
          <a:lstStyle/>
          <a:p>
            <a:pPr algn="ctr"/>
            <a:r>
              <a:rPr sz="2000" b="1" i="0">
                <a:solidFill>
                  <a:srgbClr val="555555"/>
                </a:solidFill>
              </a:rPr>
              <a:t>→</a:t>
            </a:r>
          </a:p>
        </p:txBody>
      </p:sp>
      <p:sp>
        <p:nvSpPr>
          <p:cNvPr id="26" name="Rectangle 25"/>
          <p:cNvSpPr/>
          <p:nvPr/>
        </p:nvSpPr>
        <p:spPr>
          <a:xfrm>
            <a:off x="8961119" y="1371600"/>
            <a:ext cx="2697480" cy="420624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961119" y="1371600"/>
            <a:ext cx="2697480" cy="77724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961119" y="1417320"/>
            <a:ext cx="2697480" cy="365760"/>
          </a:xfrm>
          <a:prstGeom prst="rect">
            <a:avLst/>
          </a:prstGeom>
          <a:noFill/>
        </p:spPr>
        <p:txBody>
          <a:bodyPr wrap="square">
            <a:spAutoFit/>
          </a:bodyPr>
          <a:lstStyle/>
          <a:p>
            <a:pPr algn="ctr"/>
            <a:r>
              <a:rPr sz="1200" b="1" i="0">
                <a:solidFill>
                  <a:srgbClr val="FFFFFF"/>
                </a:solidFill>
              </a:rPr>
              <a:t>STEP 4</a:t>
            </a:r>
          </a:p>
        </p:txBody>
      </p:sp>
      <p:sp>
        <p:nvSpPr>
          <p:cNvPr id="29" name="TextBox 28"/>
          <p:cNvSpPr txBox="1"/>
          <p:nvPr/>
        </p:nvSpPr>
        <p:spPr>
          <a:xfrm>
            <a:off x="8961119" y="1801368"/>
            <a:ext cx="2697480" cy="365760"/>
          </a:xfrm>
          <a:prstGeom prst="rect">
            <a:avLst/>
          </a:prstGeom>
          <a:noFill/>
        </p:spPr>
        <p:txBody>
          <a:bodyPr wrap="square">
            <a:spAutoFit/>
          </a:bodyPr>
          <a:lstStyle/>
          <a:p>
            <a:pPr algn="ctr"/>
            <a:r>
              <a:rPr sz="1400" b="1" i="0">
                <a:solidFill>
                  <a:srgbClr val="FFFFFF"/>
                </a:solidFill>
              </a:rPr>
              <a:t>契約・手数料お支払い</a:t>
            </a:r>
          </a:p>
        </p:txBody>
      </p:sp>
      <p:sp>
        <p:nvSpPr>
          <p:cNvPr id="30" name="TextBox 29"/>
          <p:cNvSpPr txBox="1"/>
          <p:nvPr/>
        </p:nvSpPr>
        <p:spPr>
          <a:xfrm>
            <a:off x="9098280" y="2331720"/>
            <a:ext cx="2423160" cy="3200400"/>
          </a:xfrm>
          <a:prstGeom prst="rect">
            <a:avLst/>
          </a:prstGeom>
          <a:noFill/>
        </p:spPr>
        <p:txBody>
          <a:bodyPr wrap="square">
            <a:spAutoFit/>
          </a:bodyPr>
          <a:lstStyle/>
          <a:p>
            <a:pPr algn="ctr"/>
            <a:r>
              <a:rPr sz="1200" b="0" i="0">
                <a:solidFill>
                  <a:srgbClr val="1A1A2E"/>
                </a:solidFill>
              </a:rPr>
              <a:t>正式契約後、月次で紹介料
振込（毎月末締め・翌月15日払い）</a:t>
            </a:r>
          </a:p>
        </p:txBody>
      </p:sp>
      <p:sp>
        <p:nvSpPr>
          <p:cNvPr id="31" name="Rectangle 30"/>
          <p:cNvSpPr/>
          <p:nvPr/>
        </p:nvSpPr>
        <p:spPr>
          <a:xfrm>
            <a:off x="320040" y="5760720"/>
            <a:ext cx="11521440" cy="777240"/>
          </a:xfrm>
          <a:prstGeom prst="rect">
            <a:avLst/>
          </a:prstGeom>
          <a:solidFill>
            <a:srgbClr val="DCFB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5852160"/>
            <a:ext cx="11247120" cy="365760"/>
          </a:xfrm>
          <a:prstGeom prst="rect">
            <a:avLst/>
          </a:prstGeom>
          <a:noFill/>
        </p:spPr>
        <p:txBody>
          <a:bodyPr wrap="square">
            <a:spAutoFit/>
          </a:bodyPr>
          <a:lstStyle/>
          <a:p>
            <a:pPr algn="l"/>
            <a:r>
              <a:rPr sz="1300" b="1" i="0">
                <a:solidFill>
                  <a:srgbClr val="049A40"/>
                </a:solidFill>
              </a:rPr>
              <a:t>先生にお願いするのは「紹介の一言」だけ。商談・導入・サポートはすべて当社が実施します。</a:t>
            </a:r>
          </a:p>
        </p:txBody>
      </p:sp>
      <p:sp>
        <p:nvSpPr>
          <p:cNvPr id="33" name="TextBox 32"/>
          <p:cNvSpPr txBox="1"/>
          <p:nvPr/>
        </p:nvSpPr>
        <p:spPr>
          <a:xfrm>
            <a:off x="457200" y="6217920"/>
            <a:ext cx="11247120" cy="292608"/>
          </a:xfrm>
          <a:prstGeom prst="rect">
            <a:avLst/>
          </a:prstGeom>
          <a:noFill/>
        </p:spPr>
        <p:txBody>
          <a:bodyPr wrap="square">
            <a:spAutoFit/>
          </a:bodyPr>
          <a:lstStyle/>
          <a:p>
            <a:pPr algn="l"/>
            <a:r>
              <a:rPr sz="1100" b="0" i="0">
                <a:solidFill>
                  <a:srgbClr val="049A40"/>
                </a:solidFill>
              </a:rPr>
              <a:t>営業同行ご希望の場合は、無料で当社担当が同席いたします。</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43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54864" cy="5715000"/>
          </a:xfrm>
          <a:prstGeom prst="rect">
            <a:avLst/>
          </a:prstGeom>
          <a:solidFill>
            <a:srgbClr val="06C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594360"/>
          </a:xfrm>
          <a:prstGeom prst="rect">
            <a:avLst/>
          </a:prstGeom>
          <a:noFill/>
        </p:spPr>
        <p:txBody>
          <a:bodyPr wrap="square">
            <a:spAutoFit/>
          </a:bodyPr>
          <a:lstStyle/>
          <a:p>
            <a:pPr algn="l"/>
            <a:r>
              <a:rPr sz="2600" b="1" i="0">
                <a:solidFill>
                  <a:srgbClr val="FFFFFF"/>
                </a:solidFill>
              </a:rPr>
              <a:t>06  パートナー特典・サポート</a:t>
            </a:r>
          </a:p>
        </p:txBody>
      </p:sp>
      <p:sp>
        <p:nvSpPr>
          <p:cNvPr id="6" name="TextBox 5"/>
          <p:cNvSpPr txBox="1"/>
          <p:nvPr/>
        </p:nvSpPr>
        <p:spPr>
          <a:xfrm>
            <a:off x="411480" y="713232"/>
            <a:ext cx="10058400" cy="365760"/>
          </a:xfrm>
          <a:prstGeom prst="rect">
            <a:avLst/>
          </a:prstGeom>
          <a:noFill/>
        </p:spPr>
        <p:txBody>
          <a:bodyPr wrap="square">
            <a:spAutoFit/>
          </a:bodyPr>
          <a:lstStyle/>
          <a:p>
            <a:pPr algn="l"/>
            <a:r>
              <a:rPr sz="1300" b="0" i="0">
                <a:solidFill>
                  <a:srgbClr val="AACCFF"/>
                </a:solidFill>
              </a:rPr>
              <a:t>紹介活動を支援するツールをご提供</a:t>
            </a:r>
          </a:p>
        </p:txBody>
      </p:sp>
      <p:sp>
        <p:nvSpPr>
          <p:cNvPr id="7" name="TextBox 6"/>
          <p:cNvSpPr txBox="1"/>
          <p:nvPr/>
        </p:nvSpPr>
        <p:spPr>
          <a:xfrm>
            <a:off x="10789920" y="6492240"/>
            <a:ext cx="1280160" cy="320040"/>
          </a:xfrm>
          <a:prstGeom prst="rect">
            <a:avLst/>
          </a:prstGeom>
          <a:noFill/>
        </p:spPr>
        <p:txBody>
          <a:bodyPr wrap="square">
            <a:spAutoFit/>
          </a:bodyPr>
          <a:lstStyle/>
          <a:p>
            <a:pPr algn="r"/>
            <a:r>
              <a:rPr sz="1100" b="0" i="0">
                <a:solidFill>
                  <a:srgbClr val="999999"/>
                </a:solidFill>
              </a:rPr>
              <a:t>8 / 10</a:t>
            </a:r>
          </a:p>
        </p:txBody>
      </p:sp>
      <p:sp>
        <p:nvSpPr>
          <p:cNvPr id="8" name="Rectangle 7"/>
          <p:cNvSpPr/>
          <p:nvPr/>
        </p:nvSpPr>
        <p:spPr>
          <a:xfrm>
            <a:off x="320040" y="1371600"/>
            <a:ext cx="3749039" cy="237744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0040" y="1371600"/>
            <a:ext cx="3749039" cy="73152"/>
          </a:xfrm>
          <a:prstGeom prst="rect">
            <a:avLst/>
          </a:prstGeom>
          <a:solidFill>
            <a:srgbClr val="06C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554480"/>
            <a:ext cx="731520" cy="640080"/>
          </a:xfrm>
          <a:prstGeom prst="rect">
            <a:avLst/>
          </a:prstGeom>
          <a:noFill/>
        </p:spPr>
        <p:txBody>
          <a:bodyPr wrap="square">
            <a:spAutoFit/>
          </a:bodyPr>
          <a:lstStyle/>
          <a:p>
            <a:pPr algn="l"/>
            <a:r>
              <a:rPr sz="2800" b="0" i="0">
                <a:solidFill>
                  <a:srgbClr val="06C755"/>
                </a:solidFill>
              </a:rPr>
              <a:t>📄</a:t>
            </a:r>
          </a:p>
        </p:txBody>
      </p:sp>
      <p:sp>
        <p:nvSpPr>
          <p:cNvPr id="11" name="TextBox 10"/>
          <p:cNvSpPr txBox="1"/>
          <p:nvPr/>
        </p:nvSpPr>
        <p:spPr>
          <a:xfrm>
            <a:off x="1234440" y="1600200"/>
            <a:ext cx="2697480" cy="502920"/>
          </a:xfrm>
          <a:prstGeom prst="rect">
            <a:avLst/>
          </a:prstGeom>
          <a:noFill/>
        </p:spPr>
        <p:txBody>
          <a:bodyPr wrap="square">
            <a:spAutoFit/>
          </a:bodyPr>
          <a:lstStyle/>
          <a:p>
            <a:pPr algn="l"/>
            <a:r>
              <a:rPr sz="1400" b="1" i="0">
                <a:solidFill>
                  <a:srgbClr val="1A1A2E"/>
                </a:solidFill>
              </a:rPr>
              <a:t>紹介用パンフレット</a:t>
            </a:r>
          </a:p>
        </p:txBody>
      </p:sp>
      <p:sp>
        <p:nvSpPr>
          <p:cNvPr id="12" name="TextBox 11"/>
          <p:cNvSpPr txBox="1"/>
          <p:nvPr/>
        </p:nvSpPr>
        <p:spPr>
          <a:xfrm>
            <a:off x="502920" y="2240280"/>
            <a:ext cx="3429000" cy="1463040"/>
          </a:xfrm>
          <a:prstGeom prst="rect">
            <a:avLst/>
          </a:prstGeom>
          <a:noFill/>
        </p:spPr>
        <p:txBody>
          <a:bodyPr wrap="square">
            <a:spAutoFit/>
          </a:bodyPr>
          <a:lstStyle/>
          <a:p>
            <a:pPr algn="l"/>
            <a:r>
              <a:rPr sz="1100" b="0" i="0">
                <a:solidFill>
                  <a:srgbClr val="555555"/>
                </a:solidFill>
              </a:rPr>
              <a:t>A4両面の印刷可能PDF
貴所オリジナルロゴ入りも可</a:t>
            </a:r>
          </a:p>
        </p:txBody>
      </p:sp>
      <p:sp>
        <p:nvSpPr>
          <p:cNvPr id="13" name="Rectangle 12"/>
          <p:cNvSpPr/>
          <p:nvPr/>
        </p:nvSpPr>
        <p:spPr>
          <a:xfrm>
            <a:off x="4251959" y="1371600"/>
            <a:ext cx="3749039" cy="237744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51959" y="1371600"/>
            <a:ext cx="3749039" cy="7315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89120" y="1554480"/>
            <a:ext cx="731520" cy="640080"/>
          </a:xfrm>
          <a:prstGeom prst="rect">
            <a:avLst/>
          </a:prstGeom>
          <a:noFill/>
        </p:spPr>
        <p:txBody>
          <a:bodyPr wrap="square">
            <a:spAutoFit/>
          </a:bodyPr>
          <a:lstStyle/>
          <a:p>
            <a:pPr algn="l"/>
            <a:r>
              <a:rPr sz="2800" b="0" i="0">
                <a:solidFill>
                  <a:srgbClr val="1D4ED8"/>
                </a:solidFill>
              </a:rPr>
              <a:t>🎬</a:t>
            </a:r>
          </a:p>
        </p:txBody>
      </p:sp>
      <p:sp>
        <p:nvSpPr>
          <p:cNvPr id="16" name="TextBox 15"/>
          <p:cNvSpPr txBox="1"/>
          <p:nvPr/>
        </p:nvSpPr>
        <p:spPr>
          <a:xfrm>
            <a:off x="5166359" y="1600200"/>
            <a:ext cx="2697480" cy="502920"/>
          </a:xfrm>
          <a:prstGeom prst="rect">
            <a:avLst/>
          </a:prstGeom>
          <a:noFill/>
        </p:spPr>
        <p:txBody>
          <a:bodyPr wrap="square">
            <a:spAutoFit/>
          </a:bodyPr>
          <a:lstStyle/>
          <a:p>
            <a:pPr algn="l"/>
            <a:r>
              <a:rPr sz="1400" b="1" i="0">
                <a:solidFill>
                  <a:srgbClr val="1A1A2E"/>
                </a:solidFill>
              </a:rPr>
              <a:t>商品紹介動画</a:t>
            </a:r>
          </a:p>
        </p:txBody>
      </p:sp>
      <p:sp>
        <p:nvSpPr>
          <p:cNvPr id="17" name="TextBox 16"/>
          <p:cNvSpPr txBox="1"/>
          <p:nvPr/>
        </p:nvSpPr>
        <p:spPr>
          <a:xfrm>
            <a:off x="4434840" y="2240280"/>
            <a:ext cx="3429000" cy="1463040"/>
          </a:xfrm>
          <a:prstGeom prst="rect">
            <a:avLst/>
          </a:prstGeom>
          <a:noFill/>
        </p:spPr>
        <p:txBody>
          <a:bodyPr wrap="square">
            <a:spAutoFit/>
          </a:bodyPr>
          <a:lstStyle/>
          <a:p>
            <a:pPr algn="l"/>
            <a:r>
              <a:rPr sz="1100" b="0" i="0">
                <a:solidFill>
                  <a:srgbClr val="555555"/>
                </a:solidFill>
              </a:rPr>
              <a:t>3分の説明動画
メールやLINEで送信可能</a:t>
            </a:r>
          </a:p>
        </p:txBody>
      </p:sp>
      <p:sp>
        <p:nvSpPr>
          <p:cNvPr id="18" name="Rectangle 17"/>
          <p:cNvSpPr/>
          <p:nvPr/>
        </p:nvSpPr>
        <p:spPr>
          <a:xfrm>
            <a:off x="8183879" y="1371600"/>
            <a:ext cx="3749039" cy="237744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83879" y="1371600"/>
            <a:ext cx="3749039"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0" y="1554480"/>
            <a:ext cx="731520" cy="640080"/>
          </a:xfrm>
          <a:prstGeom prst="rect">
            <a:avLst/>
          </a:prstGeom>
          <a:noFill/>
        </p:spPr>
        <p:txBody>
          <a:bodyPr wrap="square">
            <a:spAutoFit/>
          </a:bodyPr>
          <a:lstStyle/>
          <a:p>
            <a:pPr algn="l"/>
            <a:r>
              <a:rPr sz="2800" b="0" i="0">
                <a:solidFill>
                  <a:srgbClr val="F59E0B"/>
                </a:solidFill>
              </a:rPr>
              <a:t>👥</a:t>
            </a:r>
          </a:p>
        </p:txBody>
      </p:sp>
      <p:sp>
        <p:nvSpPr>
          <p:cNvPr id="21" name="TextBox 20"/>
          <p:cNvSpPr txBox="1"/>
          <p:nvPr/>
        </p:nvSpPr>
        <p:spPr>
          <a:xfrm>
            <a:off x="9098280" y="1600200"/>
            <a:ext cx="2697480" cy="502920"/>
          </a:xfrm>
          <a:prstGeom prst="rect">
            <a:avLst/>
          </a:prstGeom>
          <a:noFill/>
        </p:spPr>
        <p:txBody>
          <a:bodyPr wrap="square">
            <a:spAutoFit/>
          </a:bodyPr>
          <a:lstStyle/>
          <a:p>
            <a:pPr algn="l"/>
            <a:r>
              <a:rPr sz="1400" b="1" i="0">
                <a:solidFill>
                  <a:srgbClr val="1A1A2E"/>
                </a:solidFill>
              </a:rPr>
              <a:t>共同セミナー開催</a:t>
            </a:r>
          </a:p>
        </p:txBody>
      </p:sp>
      <p:sp>
        <p:nvSpPr>
          <p:cNvPr id="22" name="TextBox 21"/>
          <p:cNvSpPr txBox="1"/>
          <p:nvPr/>
        </p:nvSpPr>
        <p:spPr>
          <a:xfrm>
            <a:off x="8366759" y="2240280"/>
            <a:ext cx="3429000" cy="1463040"/>
          </a:xfrm>
          <a:prstGeom prst="rect">
            <a:avLst/>
          </a:prstGeom>
          <a:noFill/>
        </p:spPr>
        <p:txBody>
          <a:bodyPr wrap="square">
            <a:spAutoFit/>
          </a:bodyPr>
          <a:lstStyle/>
          <a:p>
            <a:pPr algn="l"/>
            <a:r>
              <a:rPr sz="1100" b="0" i="0">
                <a:solidFill>
                  <a:srgbClr val="555555"/>
                </a:solidFill>
              </a:rPr>
              <a:t>派遣会社経営者向けセミナーを
貴所と共催（参加費は折半）</a:t>
            </a:r>
          </a:p>
        </p:txBody>
      </p:sp>
      <p:sp>
        <p:nvSpPr>
          <p:cNvPr id="23" name="Rectangle 22"/>
          <p:cNvSpPr/>
          <p:nvPr/>
        </p:nvSpPr>
        <p:spPr>
          <a:xfrm>
            <a:off x="320040" y="3977639"/>
            <a:ext cx="3749039" cy="237744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20040" y="3977639"/>
            <a:ext cx="3749039" cy="73152"/>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4160520"/>
            <a:ext cx="731520" cy="640080"/>
          </a:xfrm>
          <a:prstGeom prst="rect">
            <a:avLst/>
          </a:prstGeom>
          <a:noFill/>
        </p:spPr>
        <p:txBody>
          <a:bodyPr wrap="square">
            <a:spAutoFit/>
          </a:bodyPr>
          <a:lstStyle/>
          <a:p>
            <a:pPr algn="l"/>
            <a:r>
              <a:rPr sz="2800" b="0" i="0">
                <a:solidFill>
                  <a:srgbClr val="6D28D9"/>
                </a:solidFill>
              </a:rPr>
              <a:t>📞</a:t>
            </a:r>
          </a:p>
        </p:txBody>
      </p:sp>
      <p:sp>
        <p:nvSpPr>
          <p:cNvPr id="26" name="TextBox 25"/>
          <p:cNvSpPr txBox="1"/>
          <p:nvPr/>
        </p:nvSpPr>
        <p:spPr>
          <a:xfrm>
            <a:off x="1234440" y="4206240"/>
            <a:ext cx="2697480" cy="502920"/>
          </a:xfrm>
          <a:prstGeom prst="rect">
            <a:avLst/>
          </a:prstGeom>
          <a:noFill/>
        </p:spPr>
        <p:txBody>
          <a:bodyPr wrap="square">
            <a:spAutoFit/>
          </a:bodyPr>
          <a:lstStyle/>
          <a:p>
            <a:pPr algn="l"/>
            <a:r>
              <a:rPr sz="1400" b="1" i="0">
                <a:solidFill>
                  <a:srgbClr val="1A1A2E"/>
                </a:solidFill>
              </a:rPr>
              <a:t>商談同行・電話サポート</a:t>
            </a:r>
          </a:p>
        </p:txBody>
      </p:sp>
      <p:sp>
        <p:nvSpPr>
          <p:cNvPr id="27" name="TextBox 26"/>
          <p:cNvSpPr txBox="1"/>
          <p:nvPr/>
        </p:nvSpPr>
        <p:spPr>
          <a:xfrm>
            <a:off x="502920" y="4846320"/>
            <a:ext cx="3429000" cy="1463040"/>
          </a:xfrm>
          <a:prstGeom prst="rect">
            <a:avLst/>
          </a:prstGeom>
          <a:noFill/>
        </p:spPr>
        <p:txBody>
          <a:bodyPr wrap="square">
            <a:spAutoFit/>
          </a:bodyPr>
          <a:lstStyle/>
          <a:p>
            <a:pPr algn="l"/>
            <a:r>
              <a:rPr sz="1100" b="0" i="0">
                <a:solidFill>
                  <a:srgbClr val="555555"/>
                </a:solidFill>
              </a:rPr>
              <a:t>当社の営業担当が無料で同行
顧問先への説明をサポート</a:t>
            </a:r>
          </a:p>
        </p:txBody>
      </p:sp>
      <p:sp>
        <p:nvSpPr>
          <p:cNvPr id="28" name="Rectangle 27"/>
          <p:cNvSpPr/>
          <p:nvPr/>
        </p:nvSpPr>
        <p:spPr>
          <a:xfrm>
            <a:off x="4251959" y="3977639"/>
            <a:ext cx="3749039" cy="237744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251959" y="3977639"/>
            <a:ext cx="3749039" cy="7315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89120" y="4160520"/>
            <a:ext cx="731520" cy="640080"/>
          </a:xfrm>
          <a:prstGeom prst="rect">
            <a:avLst/>
          </a:prstGeom>
          <a:noFill/>
        </p:spPr>
        <p:txBody>
          <a:bodyPr wrap="square">
            <a:spAutoFit/>
          </a:bodyPr>
          <a:lstStyle/>
          <a:p>
            <a:pPr algn="l"/>
            <a:r>
              <a:rPr sz="2800" b="0" i="0">
                <a:solidFill>
                  <a:srgbClr val="DC2626"/>
                </a:solidFill>
              </a:rPr>
              <a:t>📊</a:t>
            </a:r>
          </a:p>
        </p:txBody>
      </p:sp>
      <p:sp>
        <p:nvSpPr>
          <p:cNvPr id="31" name="TextBox 30"/>
          <p:cNvSpPr txBox="1"/>
          <p:nvPr/>
        </p:nvSpPr>
        <p:spPr>
          <a:xfrm>
            <a:off x="5166359" y="4206240"/>
            <a:ext cx="2697480" cy="502920"/>
          </a:xfrm>
          <a:prstGeom prst="rect">
            <a:avLst/>
          </a:prstGeom>
          <a:noFill/>
        </p:spPr>
        <p:txBody>
          <a:bodyPr wrap="square">
            <a:spAutoFit/>
          </a:bodyPr>
          <a:lstStyle/>
          <a:p>
            <a:pPr algn="l"/>
            <a:r>
              <a:rPr sz="1400" b="1" i="0">
                <a:solidFill>
                  <a:srgbClr val="1A1A2E"/>
                </a:solidFill>
              </a:rPr>
              <a:t>紹介状況ダッシュボード</a:t>
            </a:r>
          </a:p>
        </p:txBody>
      </p:sp>
      <p:sp>
        <p:nvSpPr>
          <p:cNvPr id="32" name="TextBox 31"/>
          <p:cNvSpPr txBox="1"/>
          <p:nvPr/>
        </p:nvSpPr>
        <p:spPr>
          <a:xfrm>
            <a:off x="4434840" y="4846320"/>
            <a:ext cx="3429000" cy="1463040"/>
          </a:xfrm>
          <a:prstGeom prst="rect">
            <a:avLst/>
          </a:prstGeom>
          <a:noFill/>
        </p:spPr>
        <p:txBody>
          <a:bodyPr wrap="square">
            <a:spAutoFit/>
          </a:bodyPr>
          <a:lstStyle/>
          <a:p>
            <a:pPr algn="l"/>
            <a:r>
              <a:rPr sz="1100" b="0" i="0">
                <a:solidFill>
                  <a:srgbClr val="555555"/>
                </a:solidFill>
              </a:rPr>
              <a:t>紹介した顧問先の利用状況・
手数料の発生状況を確認可能</a:t>
            </a:r>
          </a:p>
        </p:txBody>
      </p:sp>
      <p:sp>
        <p:nvSpPr>
          <p:cNvPr id="33" name="Rectangle 32"/>
          <p:cNvSpPr/>
          <p:nvPr/>
        </p:nvSpPr>
        <p:spPr>
          <a:xfrm>
            <a:off x="8183879" y="3977639"/>
            <a:ext cx="3749039" cy="237744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183879" y="3977639"/>
            <a:ext cx="3749039" cy="7315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21040" y="4160520"/>
            <a:ext cx="731520" cy="640080"/>
          </a:xfrm>
          <a:prstGeom prst="rect">
            <a:avLst/>
          </a:prstGeom>
          <a:noFill/>
        </p:spPr>
        <p:txBody>
          <a:bodyPr wrap="square">
            <a:spAutoFit/>
          </a:bodyPr>
          <a:lstStyle/>
          <a:p>
            <a:pPr algn="l"/>
            <a:r>
              <a:rPr sz="2800" b="0" i="0">
                <a:solidFill>
                  <a:srgbClr val="0F172A"/>
                </a:solidFill>
              </a:rPr>
              <a:t>🎓</a:t>
            </a:r>
          </a:p>
        </p:txBody>
      </p:sp>
      <p:sp>
        <p:nvSpPr>
          <p:cNvPr id="36" name="TextBox 35"/>
          <p:cNvSpPr txBox="1"/>
          <p:nvPr/>
        </p:nvSpPr>
        <p:spPr>
          <a:xfrm>
            <a:off x="9098280" y="4206240"/>
            <a:ext cx="2697480" cy="502920"/>
          </a:xfrm>
          <a:prstGeom prst="rect">
            <a:avLst/>
          </a:prstGeom>
          <a:noFill/>
        </p:spPr>
        <p:txBody>
          <a:bodyPr wrap="square">
            <a:spAutoFit/>
          </a:bodyPr>
          <a:lstStyle/>
          <a:p>
            <a:pPr algn="l"/>
            <a:r>
              <a:rPr sz="1400" b="1" i="0">
                <a:solidFill>
                  <a:srgbClr val="1A1A2E"/>
                </a:solidFill>
              </a:rPr>
              <a:t>30分Zoom研修</a:t>
            </a:r>
          </a:p>
        </p:txBody>
      </p:sp>
      <p:sp>
        <p:nvSpPr>
          <p:cNvPr id="37" name="TextBox 36"/>
          <p:cNvSpPr txBox="1"/>
          <p:nvPr/>
        </p:nvSpPr>
        <p:spPr>
          <a:xfrm>
            <a:off x="8366759" y="4846320"/>
            <a:ext cx="3429000" cy="1463040"/>
          </a:xfrm>
          <a:prstGeom prst="rect">
            <a:avLst/>
          </a:prstGeom>
          <a:noFill/>
        </p:spPr>
        <p:txBody>
          <a:bodyPr wrap="square">
            <a:spAutoFit/>
          </a:bodyPr>
          <a:lstStyle/>
          <a:p>
            <a:pPr algn="l"/>
            <a:r>
              <a:rPr sz="1100" b="0" i="0">
                <a:solidFill>
                  <a:srgbClr val="555555"/>
                </a:solidFill>
              </a:rPr>
              <a:t>商品理解・紹介トーク習得
初回登録時に実施</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143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54864" cy="5715000"/>
          </a:xfrm>
          <a:prstGeom prst="rect">
            <a:avLst/>
          </a:prstGeom>
          <a:solidFill>
            <a:srgbClr val="06C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594360"/>
          </a:xfrm>
          <a:prstGeom prst="rect">
            <a:avLst/>
          </a:prstGeom>
          <a:noFill/>
        </p:spPr>
        <p:txBody>
          <a:bodyPr wrap="square">
            <a:spAutoFit/>
          </a:bodyPr>
          <a:lstStyle/>
          <a:p>
            <a:pPr algn="l"/>
            <a:r>
              <a:rPr sz="2600" b="1" i="0">
                <a:solidFill>
                  <a:srgbClr val="FFFFFF"/>
                </a:solidFill>
              </a:rPr>
              <a:t>07  よくあるご質問</a:t>
            </a:r>
          </a:p>
        </p:txBody>
      </p:sp>
      <p:sp>
        <p:nvSpPr>
          <p:cNvPr id="6" name="TextBox 5"/>
          <p:cNvSpPr txBox="1"/>
          <p:nvPr/>
        </p:nvSpPr>
        <p:spPr>
          <a:xfrm>
            <a:off x="10789920" y="6492240"/>
            <a:ext cx="1280160" cy="320040"/>
          </a:xfrm>
          <a:prstGeom prst="rect">
            <a:avLst/>
          </a:prstGeom>
          <a:noFill/>
        </p:spPr>
        <p:txBody>
          <a:bodyPr wrap="square">
            <a:spAutoFit/>
          </a:bodyPr>
          <a:lstStyle/>
          <a:p>
            <a:pPr algn="r"/>
            <a:r>
              <a:rPr sz="1100" b="0" i="0">
                <a:solidFill>
                  <a:srgbClr val="999999"/>
                </a:solidFill>
              </a:rPr>
              <a:t>9 / 10</a:t>
            </a:r>
          </a:p>
        </p:txBody>
      </p:sp>
      <p:sp>
        <p:nvSpPr>
          <p:cNvPr id="7" name="Rectangle 6"/>
          <p:cNvSpPr/>
          <p:nvPr/>
        </p:nvSpPr>
        <p:spPr>
          <a:xfrm>
            <a:off x="320040" y="1280160"/>
            <a:ext cx="11521440" cy="86868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325880"/>
            <a:ext cx="11247120" cy="365760"/>
          </a:xfrm>
          <a:prstGeom prst="rect">
            <a:avLst/>
          </a:prstGeom>
          <a:noFill/>
        </p:spPr>
        <p:txBody>
          <a:bodyPr wrap="square">
            <a:spAutoFit/>
          </a:bodyPr>
          <a:lstStyle/>
          <a:p>
            <a:pPr algn="l"/>
            <a:r>
              <a:rPr sz="1300" b="1" i="0">
                <a:solidFill>
                  <a:srgbClr val="1A1A2E"/>
                </a:solidFill>
              </a:rPr>
              <a:t>Q. 紹介した顧問先が解約した場合、手数料はどうなりますか？</a:t>
            </a:r>
          </a:p>
        </p:txBody>
      </p:sp>
      <p:sp>
        <p:nvSpPr>
          <p:cNvPr id="9" name="TextBox 8"/>
          <p:cNvSpPr txBox="1"/>
          <p:nvPr/>
        </p:nvSpPr>
        <p:spPr>
          <a:xfrm>
            <a:off x="457200" y="1737360"/>
            <a:ext cx="11247120" cy="365760"/>
          </a:xfrm>
          <a:prstGeom prst="rect">
            <a:avLst/>
          </a:prstGeom>
          <a:noFill/>
        </p:spPr>
        <p:txBody>
          <a:bodyPr wrap="square">
            <a:spAutoFit/>
          </a:bodyPr>
          <a:lstStyle/>
          <a:p>
            <a:pPr algn="l"/>
            <a:r>
              <a:rPr sz="1100" b="0" i="0">
                <a:solidFill>
                  <a:srgbClr val="555555"/>
                </a:solidFill>
              </a:rPr>
              <a:t>A. 解約された月以降の手数料は発生しません。継続利用中の月のみお支払いです。</a:t>
            </a:r>
          </a:p>
        </p:txBody>
      </p:sp>
      <p:sp>
        <p:nvSpPr>
          <p:cNvPr id="10" name="Rectangle 9"/>
          <p:cNvSpPr/>
          <p:nvPr/>
        </p:nvSpPr>
        <p:spPr>
          <a:xfrm>
            <a:off x="320040" y="2240280"/>
            <a:ext cx="11521440" cy="86868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286000"/>
            <a:ext cx="11247120" cy="365760"/>
          </a:xfrm>
          <a:prstGeom prst="rect">
            <a:avLst/>
          </a:prstGeom>
          <a:noFill/>
        </p:spPr>
        <p:txBody>
          <a:bodyPr wrap="square">
            <a:spAutoFit/>
          </a:bodyPr>
          <a:lstStyle/>
          <a:p>
            <a:pPr algn="l"/>
            <a:r>
              <a:rPr sz="1300" b="1" i="0">
                <a:solidFill>
                  <a:srgbClr val="1A1A2E"/>
                </a:solidFill>
              </a:rPr>
              <a:t>Q. 顧問先の規模に上限はありますか？</a:t>
            </a:r>
          </a:p>
        </p:txBody>
      </p:sp>
      <p:sp>
        <p:nvSpPr>
          <p:cNvPr id="12" name="TextBox 11"/>
          <p:cNvSpPr txBox="1"/>
          <p:nvPr/>
        </p:nvSpPr>
        <p:spPr>
          <a:xfrm>
            <a:off x="457200" y="2697480"/>
            <a:ext cx="11247120" cy="365760"/>
          </a:xfrm>
          <a:prstGeom prst="rect">
            <a:avLst/>
          </a:prstGeom>
          <a:noFill/>
        </p:spPr>
        <p:txBody>
          <a:bodyPr wrap="square">
            <a:spAutoFit/>
          </a:bodyPr>
          <a:lstStyle/>
          <a:p>
            <a:pPr algn="l"/>
            <a:r>
              <a:rPr sz="1100" b="0" i="0">
                <a:solidFill>
                  <a:srgbClr val="555555"/>
                </a:solidFill>
              </a:rPr>
              <a:t>A. ありません。スタッフ数1,000名超の派遣会社でも対応可能です。規模に応じてエンタープライズプランで個別見積もりとなります。</a:t>
            </a:r>
          </a:p>
        </p:txBody>
      </p:sp>
      <p:sp>
        <p:nvSpPr>
          <p:cNvPr id="13" name="Rectangle 12"/>
          <p:cNvSpPr/>
          <p:nvPr/>
        </p:nvSpPr>
        <p:spPr>
          <a:xfrm>
            <a:off x="320040" y="3200400"/>
            <a:ext cx="11521440" cy="86868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3246120"/>
            <a:ext cx="11247120" cy="365760"/>
          </a:xfrm>
          <a:prstGeom prst="rect">
            <a:avLst/>
          </a:prstGeom>
          <a:noFill/>
        </p:spPr>
        <p:txBody>
          <a:bodyPr wrap="square">
            <a:spAutoFit/>
          </a:bodyPr>
          <a:lstStyle/>
          <a:p>
            <a:pPr algn="l"/>
            <a:r>
              <a:rPr sz="1300" b="1" i="0">
                <a:solidFill>
                  <a:srgbClr val="1A1A2E"/>
                </a:solidFill>
              </a:rPr>
              <a:t>Q. 私の事務所のロゴを入れたパンフレットを作れますか？</a:t>
            </a:r>
          </a:p>
        </p:txBody>
      </p:sp>
      <p:sp>
        <p:nvSpPr>
          <p:cNvPr id="15" name="TextBox 14"/>
          <p:cNvSpPr txBox="1"/>
          <p:nvPr/>
        </p:nvSpPr>
        <p:spPr>
          <a:xfrm>
            <a:off x="457200" y="3657600"/>
            <a:ext cx="11247120" cy="365760"/>
          </a:xfrm>
          <a:prstGeom prst="rect">
            <a:avLst/>
          </a:prstGeom>
          <a:noFill/>
        </p:spPr>
        <p:txBody>
          <a:bodyPr wrap="square">
            <a:spAutoFit/>
          </a:bodyPr>
          <a:lstStyle/>
          <a:p>
            <a:pPr algn="l"/>
            <a:r>
              <a:rPr sz="1100" b="0" i="0">
                <a:solidFill>
                  <a:srgbClr val="555555"/>
                </a:solidFill>
              </a:rPr>
              <a:t>A. はい。月3社以上の紹介実績がある先生にはオリジナルロゴ入りパンフレットを無料で作成いたします。</a:t>
            </a:r>
          </a:p>
        </p:txBody>
      </p:sp>
      <p:sp>
        <p:nvSpPr>
          <p:cNvPr id="16" name="Rectangle 15"/>
          <p:cNvSpPr/>
          <p:nvPr/>
        </p:nvSpPr>
        <p:spPr>
          <a:xfrm>
            <a:off x="320040" y="4160520"/>
            <a:ext cx="11521440" cy="86868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4206240"/>
            <a:ext cx="11247120" cy="365760"/>
          </a:xfrm>
          <a:prstGeom prst="rect">
            <a:avLst/>
          </a:prstGeom>
          <a:noFill/>
        </p:spPr>
        <p:txBody>
          <a:bodyPr wrap="square">
            <a:spAutoFit/>
          </a:bodyPr>
          <a:lstStyle/>
          <a:p>
            <a:pPr algn="l"/>
            <a:r>
              <a:rPr sz="1300" b="1" i="0">
                <a:solidFill>
                  <a:srgbClr val="1A1A2E"/>
                </a:solidFill>
              </a:rPr>
              <a:t>Q. 派遣業以外の顧問先にも紹介できますか？</a:t>
            </a:r>
          </a:p>
        </p:txBody>
      </p:sp>
      <p:sp>
        <p:nvSpPr>
          <p:cNvPr id="18" name="TextBox 17"/>
          <p:cNvSpPr txBox="1"/>
          <p:nvPr/>
        </p:nvSpPr>
        <p:spPr>
          <a:xfrm>
            <a:off x="457200" y="4617720"/>
            <a:ext cx="11247120" cy="365760"/>
          </a:xfrm>
          <a:prstGeom prst="rect">
            <a:avLst/>
          </a:prstGeom>
          <a:noFill/>
        </p:spPr>
        <p:txBody>
          <a:bodyPr wrap="square">
            <a:spAutoFit/>
          </a:bodyPr>
          <a:lstStyle/>
          <a:p>
            <a:pPr algn="l"/>
            <a:r>
              <a:rPr sz="1100" b="0" i="0">
                <a:solidFill>
                  <a:srgbClr val="555555"/>
                </a:solidFill>
              </a:rPr>
              <a:t>A. 派遣業以外の活用については個別ご相談ください。多店舗展開する小売・飲食店などでも一部活用可能です。</a:t>
            </a:r>
          </a:p>
        </p:txBody>
      </p:sp>
      <p:sp>
        <p:nvSpPr>
          <p:cNvPr id="19" name="Rectangle 18"/>
          <p:cNvSpPr/>
          <p:nvPr/>
        </p:nvSpPr>
        <p:spPr>
          <a:xfrm>
            <a:off x="320040" y="5120640"/>
            <a:ext cx="11521440" cy="86868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5166359"/>
            <a:ext cx="11247120" cy="365760"/>
          </a:xfrm>
          <a:prstGeom prst="rect">
            <a:avLst/>
          </a:prstGeom>
          <a:noFill/>
        </p:spPr>
        <p:txBody>
          <a:bodyPr wrap="square">
            <a:spAutoFit/>
          </a:bodyPr>
          <a:lstStyle/>
          <a:p>
            <a:pPr algn="l"/>
            <a:r>
              <a:rPr sz="1300" b="1" i="0">
                <a:solidFill>
                  <a:srgbClr val="1A1A2E"/>
                </a:solidFill>
              </a:rPr>
              <a:t>Q. 提携契約に最低期間はありますか？</a:t>
            </a:r>
          </a:p>
        </p:txBody>
      </p:sp>
      <p:sp>
        <p:nvSpPr>
          <p:cNvPr id="21" name="TextBox 20"/>
          <p:cNvSpPr txBox="1"/>
          <p:nvPr/>
        </p:nvSpPr>
        <p:spPr>
          <a:xfrm>
            <a:off x="457200" y="5577840"/>
            <a:ext cx="11247120" cy="365760"/>
          </a:xfrm>
          <a:prstGeom prst="rect">
            <a:avLst/>
          </a:prstGeom>
          <a:noFill/>
        </p:spPr>
        <p:txBody>
          <a:bodyPr wrap="square">
            <a:spAutoFit/>
          </a:bodyPr>
          <a:lstStyle/>
          <a:p>
            <a:pPr algn="l"/>
            <a:r>
              <a:rPr sz="1100" b="0" i="0">
                <a:solidFill>
                  <a:srgbClr val="555555"/>
                </a:solidFill>
              </a:rPr>
              <a:t>A. ありません。いつでも提携を終了できますが、終了後も既存紹介分の手数料は契約期間まで継続して支払われます。</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4864"/>
          </a:xfrm>
          <a:prstGeom prst="rect">
            <a:avLst/>
          </a:prstGeom>
          <a:solidFill>
            <a:srgbClr val="06C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803136"/>
            <a:ext cx="12188952" cy="54864"/>
          </a:xfrm>
          <a:prstGeom prst="rect">
            <a:avLst/>
          </a:prstGeom>
          <a:solidFill>
            <a:srgbClr val="06C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601200" y="0"/>
            <a:ext cx="320040" cy="6858000"/>
          </a:xfrm>
          <a:prstGeom prst="rect">
            <a:avLst/>
          </a:prstGeom>
          <a:solidFill>
            <a:srgbClr val="1F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012680" y="0"/>
            <a:ext cx="320040" cy="6858000"/>
          </a:xfrm>
          <a:prstGeom prst="rect">
            <a:avLst/>
          </a:prstGeom>
          <a:solidFill>
            <a:srgbClr val="1F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424160" y="0"/>
            <a:ext cx="320040" cy="6858000"/>
          </a:xfrm>
          <a:prstGeom prst="rect">
            <a:avLst/>
          </a:prstGeom>
          <a:solidFill>
            <a:srgbClr val="1F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835640" y="0"/>
            <a:ext cx="320040" cy="6858000"/>
          </a:xfrm>
          <a:prstGeom prst="rect">
            <a:avLst/>
          </a:prstGeom>
          <a:solidFill>
            <a:srgbClr val="1F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47120" y="0"/>
            <a:ext cx="320040" cy="6858000"/>
          </a:xfrm>
          <a:prstGeom prst="rect">
            <a:avLst/>
          </a:prstGeom>
          <a:solidFill>
            <a:srgbClr val="1F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658600" y="0"/>
            <a:ext cx="320040" cy="6858000"/>
          </a:xfrm>
          <a:prstGeom prst="rect">
            <a:avLst/>
          </a:prstGeom>
          <a:solidFill>
            <a:srgbClr val="1F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457200"/>
            <a:ext cx="10972800" cy="411480"/>
          </a:xfrm>
          <a:prstGeom prst="rect">
            <a:avLst/>
          </a:prstGeom>
          <a:noFill/>
        </p:spPr>
        <p:txBody>
          <a:bodyPr wrap="square">
            <a:spAutoFit/>
          </a:bodyPr>
          <a:lstStyle/>
          <a:p>
            <a:pPr algn="l"/>
            <a:r>
              <a:rPr sz="1400" b="1" i="1">
                <a:solidFill>
                  <a:srgbClr val="06C755"/>
                </a:solidFill>
              </a:rPr>
              <a:t>NEXT STEP</a:t>
            </a:r>
          </a:p>
        </p:txBody>
      </p:sp>
      <p:sp>
        <p:nvSpPr>
          <p:cNvPr id="12" name="TextBox 11"/>
          <p:cNvSpPr txBox="1"/>
          <p:nvPr/>
        </p:nvSpPr>
        <p:spPr>
          <a:xfrm>
            <a:off x="548640" y="960120"/>
            <a:ext cx="10972800" cy="548640"/>
          </a:xfrm>
          <a:prstGeom prst="rect">
            <a:avLst/>
          </a:prstGeom>
          <a:noFill/>
        </p:spPr>
        <p:txBody>
          <a:bodyPr wrap="square">
            <a:spAutoFit/>
          </a:bodyPr>
          <a:lstStyle/>
          <a:p>
            <a:pPr algn="l"/>
            <a:r>
              <a:rPr sz="2400" b="1" i="0">
                <a:solidFill>
                  <a:srgbClr val="FFFFFF"/>
                </a:solidFill>
              </a:rPr>
              <a:t>ご検討いただける場合は</a:t>
            </a:r>
          </a:p>
        </p:txBody>
      </p:sp>
      <p:sp>
        <p:nvSpPr>
          <p:cNvPr id="13" name="Rectangle 12"/>
          <p:cNvSpPr/>
          <p:nvPr/>
        </p:nvSpPr>
        <p:spPr>
          <a:xfrm>
            <a:off x="548640" y="1783080"/>
            <a:ext cx="8686800" cy="1143000"/>
          </a:xfrm>
          <a:prstGeom prst="rect">
            <a:avLst/>
          </a:prstGeom>
          <a:solidFill>
            <a:srgbClr val="1A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1783080"/>
            <a:ext cx="73152" cy="1143000"/>
          </a:xfrm>
          <a:prstGeom prst="rect">
            <a:avLst/>
          </a:prstGeom>
          <a:solidFill>
            <a:srgbClr val="06C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1874519"/>
            <a:ext cx="731520" cy="548640"/>
          </a:xfrm>
          <a:prstGeom prst="rect">
            <a:avLst/>
          </a:prstGeom>
          <a:noFill/>
        </p:spPr>
        <p:txBody>
          <a:bodyPr wrap="square">
            <a:spAutoFit/>
          </a:bodyPr>
          <a:lstStyle/>
          <a:p>
            <a:pPr algn="l"/>
            <a:r>
              <a:rPr sz="2800" b="1" i="0">
                <a:solidFill>
                  <a:srgbClr val="06C755"/>
                </a:solidFill>
              </a:rPr>
              <a:t>1</a:t>
            </a:r>
          </a:p>
        </p:txBody>
      </p:sp>
      <p:sp>
        <p:nvSpPr>
          <p:cNvPr id="16" name="TextBox 15"/>
          <p:cNvSpPr txBox="1"/>
          <p:nvPr/>
        </p:nvSpPr>
        <p:spPr>
          <a:xfrm>
            <a:off x="1417320" y="1874519"/>
            <a:ext cx="7680960" cy="457200"/>
          </a:xfrm>
          <a:prstGeom prst="rect">
            <a:avLst/>
          </a:prstGeom>
          <a:noFill/>
        </p:spPr>
        <p:txBody>
          <a:bodyPr wrap="square">
            <a:spAutoFit/>
          </a:bodyPr>
          <a:lstStyle/>
          <a:p>
            <a:pPr algn="l"/>
            <a:r>
              <a:rPr sz="1500" b="1" i="0">
                <a:solidFill>
                  <a:srgbClr val="FFFFFF"/>
                </a:solidFill>
              </a:rPr>
              <a:t>30分のオンライン面談</a:t>
            </a:r>
          </a:p>
        </p:txBody>
      </p:sp>
      <p:sp>
        <p:nvSpPr>
          <p:cNvPr id="17" name="TextBox 16"/>
          <p:cNvSpPr txBox="1"/>
          <p:nvPr/>
        </p:nvSpPr>
        <p:spPr>
          <a:xfrm>
            <a:off x="1417320" y="2377440"/>
            <a:ext cx="7680960" cy="548640"/>
          </a:xfrm>
          <a:prstGeom prst="rect">
            <a:avLst/>
          </a:prstGeom>
          <a:noFill/>
        </p:spPr>
        <p:txBody>
          <a:bodyPr wrap="square">
            <a:spAutoFit/>
          </a:bodyPr>
          <a:lstStyle/>
          <a:p>
            <a:pPr algn="l"/>
            <a:r>
              <a:rPr sz="1100" b="0" i="0">
                <a:solidFill>
                  <a:srgbClr val="CCDDFF"/>
                </a:solidFill>
              </a:rPr>
              <a:t>サービスデモ＋紹介スキームの詳細をご説明します。
Zoom/Google Meet/LINE通話いずれでも対応可能</a:t>
            </a:r>
          </a:p>
        </p:txBody>
      </p:sp>
      <p:sp>
        <p:nvSpPr>
          <p:cNvPr id="18" name="Rectangle 17"/>
          <p:cNvSpPr/>
          <p:nvPr/>
        </p:nvSpPr>
        <p:spPr>
          <a:xfrm>
            <a:off x="548640" y="3063239"/>
            <a:ext cx="8686800" cy="1143000"/>
          </a:xfrm>
          <a:prstGeom prst="rect">
            <a:avLst/>
          </a:prstGeom>
          <a:solidFill>
            <a:srgbClr val="1A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63239"/>
            <a:ext cx="73152" cy="11430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3154679"/>
            <a:ext cx="731520" cy="548640"/>
          </a:xfrm>
          <a:prstGeom prst="rect">
            <a:avLst/>
          </a:prstGeom>
          <a:noFill/>
        </p:spPr>
        <p:txBody>
          <a:bodyPr wrap="square">
            <a:spAutoFit/>
          </a:bodyPr>
          <a:lstStyle/>
          <a:p>
            <a:pPr algn="l"/>
            <a:r>
              <a:rPr sz="2800" b="1" i="0">
                <a:solidFill>
                  <a:srgbClr val="1D4ED8"/>
                </a:solidFill>
              </a:rPr>
              <a:t>2</a:t>
            </a:r>
          </a:p>
        </p:txBody>
      </p:sp>
      <p:sp>
        <p:nvSpPr>
          <p:cNvPr id="21" name="TextBox 20"/>
          <p:cNvSpPr txBox="1"/>
          <p:nvPr/>
        </p:nvSpPr>
        <p:spPr>
          <a:xfrm>
            <a:off x="1417320" y="3154679"/>
            <a:ext cx="7680960" cy="457200"/>
          </a:xfrm>
          <a:prstGeom prst="rect">
            <a:avLst/>
          </a:prstGeom>
          <a:noFill/>
        </p:spPr>
        <p:txBody>
          <a:bodyPr wrap="square">
            <a:spAutoFit/>
          </a:bodyPr>
          <a:lstStyle/>
          <a:p>
            <a:pPr algn="l"/>
            <a:r>
              <a:rPr sz="1500" b="1" i="0">
                <a:solidFill>
                  <a:srgbClr val="FFFFFF"/>
                </a:solidFill>
              </a:rPr>
              <a:t>パートナー契約書のご確認</a:t>
            </a:r>
          </a:p>
        </p:txBody>
      </p:sp>
      <p:sp>
        <p:nvSpPr>
          <p:cNvPr id="22" name="TextBox 21"/>
          <p:cNvSpPr txBox="1"/>
          <p:nvPr/>
        </p:nvSpPr>
        <p:spPr>
          <a:xfrm>
            <a:off x="1417320" y="3657599"/>
            <a:ext cx="7680960" cy="548640"/>
          </a:xfrm>
          <a:prstGeom prst="rect">
            <a:avLst/>
          </a:prstGeom>
          <a:noFill/>
        </p:spPr>
        <p:txBody>
          <a:bodyPr wrap="square">
            <a:spAutoFit/>
          </a:bodyPr>
          <a:lstStyle/>
          <a:p>
            <a:pPr algn="l"/>
            <a:r>
              <a:rPr sz="1100" b="0" i="0">
                <a:solidFill>
                  <a:srgbClr val="CCDDFF"/>
                </a:solidFill>
              </a:rPr>
              <a:t>業務委託契約書のドラフトをお送りします。
ご検討後、押印いただいて締結</a:t>
            </a:r>
          </a:p>
        </p:txBody>
      </p:sp>
      <p:sp>
        <p:nvSpPr>
          <p:cNvPr id="23" name="Rectangle 22"/>
          <p:cNvSpPr/>
          <p:nvPr/>
        </p:nvSpPr>
        <p:spPr>
          <a:xfrm>
            <a:off x="548640" y="4343400"/>
            <a:ext cx="8686800" cy="1143000"/>
          </a:xfrm>
          <a:prstGeom prst="rect">
            <a:avLst/>
          </a:prstGeom>
          <a:solidFill>
            <a:srgbClr val="1A2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4343400"/>
            <a:ext cx="73152" cy="11430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4434840"/>
            <a:ext cx="731520" cy="548640"/>
          </a:xfrm>
          <a:prstGeom prst="rect">
            <a:avLst/>
          </a:prstGeom>
          <a:noFill/>
        </p:spPr>
        <p:txBody>
          <a:bodyPr wrap="square">
            <a:spAutoFit/>
          </a:bodyPr>
          <a:lstStyle/>
          <a:p>
            <a:pPr algn="l"/>
            <a:r>
              <a:rPr sz="2800" b="1" i="0">
                <a:solidFill>
                  <a:srgbClr val="F59E0B"/>
                </a:solidFill>
              </a:rPr>
              <a:t>3</a:t>
            </a:r>
          </a:p>
        </p:txBody>
      </p:sp>
      <p:sp>
        <p:nvSpPr>
          <p:cNvPr id="26" name="TextBox 25"/>
          <p:cNvSpPr txBox="1"/>
          <p:nvPr/>
        </p:nvSpPr>
        <p:spPr>
          <a:xfrm>
            <a:off x="1417320" y="4434840"/>
            <a:ext cx="7680960" cy="457200"/>
          </a:xfrm>
          <a:prstGeom prst="rect">
            <a:avLst/>
          </a:prstGeom>
          <a:noFill/>
        </p:spPr>
        <p:txBody>
          <a:bodyPr wrap="square">
            <a:spAutoFit/>
          </a:bodyPr>
          <a:lstStyle/>
          <a:p>
            <a:pPr algn="l"/>
            <a:r>
              <a:rPr sz="1500" b="1" i="0">
                <a:solidFill>
                  <a:srgbClr val="FFFFFF"/>
                </a:solidFill>
              </a:rPr>
              <a:t>研修・紹介開始</a:t>
            </a:r>
          </a:p>
        </p:txBody>
      </p:sp>
      <p:sp>
        <p:nvSpPr>
          <p:cNvPr id="27" name="TextBox 26"/>
          <p:cNvSpPr txBox="1"/>
          <p:nvPr/>
        </p:nvSpPr>
        <p:spPr>
          <a:xfrm>
            <a:off x="1417320" y="4937760"/>
            <a:ext cx="7680960" cy="548640"/>
          </a:xfrm>
          <a:prstGeom prst="rect">
            <a:avLst/>
          </a:prstGeom>
          <a:noFill/>
        </p:spPr>
        <p:txBody>
          <a:bodyPr wrap="square">
            <a:spAutoFit/>
          </a:bodyPr>
          <a:lstStyle/>
          <a:p>
            <a:pPr algn="l"/>
            <a:r>
              <a:rPr sz="1100" b="0" i="0">
                <a:solidFill>
                  <a:srgbClr val="CCDDFF"/>
                </a:solidFill>
              </a:rPr>
              <a:t>30分のオンライン研修後、即座に紹介開始可能。
ツール一式をお渡しします</a:t>
            </a:r>
          </a:p>
        </p:txBody>
      </p:sp>
      <p:sp>
        <p:nvSpPr>
          <p:cNvPr id="28" name="Rectangle 27"/>
          <p:cNvSpPr/>
          <p:nvPr/>
        </p:nvSpPr>
        <p:spPr>
          <a:xfrm>
            <a:off x="548640" y="5806440"/>
            <a:ext cx="8686800" cy="777240"/>
          </a:xfrm>
          <a:prstGeom prst="rect">
            <a:avLst/>
          </a:prstGeom>
          <a:solidFill>
            <a:srgbClr val="06C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5852160"/>
            <a:ext cx="6400800" cy="320040"/>
          </a:xfrm>
          <a:prstGeom prst="rect">
            <a:avLst/>
          </a:prstGeom>
          <a:noFill/>
        </p:spPr>
        <p:txBody>
          <a:bodyPr wrap="square">
            <a:spAutoFit/>
          </a:bodyPr>
          <a:lstStyle/>
          <a:p>
            <a:pPr algn="l"/>
            <a:r>
              <a:rPr sz="1200" b="1" i="0">
                <a:solidFill>
                  <a:srgbClr val="FFFFFF"/>
                </a:solidFill>
              </a:rPr>
              <a:t>お問い合わせ</a:t>
            </a:r>
          </a:p>
        </p:txBody>
      </p:sp>
      <p:sp>
        <p:nvSpPr>
          <p:cNvPr id="30" name="TextBox 29"/>
          <p:cNvSpPr txBox="1"/>
          <p:nvPr/>
        </p:nvSpPr>
        <p:spPr>
          <a:xfrm>
            <a:off x="731520" y="6172200"/>
            <a:ext cx="6400800" cy="320040"/>
          </a:xfrm>
          <a:prstGeom prst="rect">
            <a:avLst/>
          </a:prstGeom>
          <a:noFill/>
        </p:spPr>
        <p:txBody>
          <a:bodyPr wrap="square">
            <a:spAutoFit/>
          </a:bodyPr>
          <a:lstStyle/>
          <a:p>
            <a:pPr algn="l"/>
            <a:r>
              <a:rPr sz="1400" b="1" i="0">
                <a:solidFill>
                  <a:srgbClr val="FFFFFF"/>
                </a:solidFill>
              </a:rPr>
              <a:t>contact@rakuraku-kintai.jp（準備中）</a:t>
            </a:r>
          </a:p>
        </p:txBody>
      </p:sp>
      <p:sp>
        <p:nvSpPr>
          <p:cNvPr id="31" name="TextBox 30"/>
          <p:cNvSpPr txBox="1"/>
          <p:nvPr/>
        </p:nvSpPr>
        <p:spPr>
          <a:xfrm>
            <a:off x="731520" y="6492240"/>
            <a:ext cx="6400800" cy="274320"/>
          </a:xfrm>
          <a:prstGeom prst="rect">
            <a:avLst/>
          </a:prstGeom>
          <a:noFill/>
        </p:spPr>
        <p:txBody>
          <a:bodyPr wrap="square">
            <a:spAutoFit/>
          </a:bodyPr>
          <a:lstStyle/>
          <a:p>
            <a:pPr algn="l"/>
            <a:r>
              <a:rPr sz="1000" b="0" i="0">
                <a:solidFill>
                  <a:srgbClr val="DCFBE5"/>
                </a:solidFill>
              </a:rPr>
              <a:t>担当：ラクラク勤怠 株式会社 パートナー営業窓口</a:t>
            </a:r>
          </a:p>
        </p:txBody>
      </p:sp>
      <p:sp>
        <p:nvSpPr>
          <p:cNvPr id="32" name="TextBox 31"/>
          <p:cNvSpPr txBox="1"/>
          <p:nvPr/>
        </p:nvSpPr>
        <p:spPr>
          <a:xfrm>
            <a:off x="10789920" y="6492240"/>
            <a:ext cx="1280160" cy="320040"/>
          </a:xfrm>
          <a:prstGeom prst="rect">
            <a:avLst/>
          </a:prstGeom>
          <a:noFill/>
        </p:spPr>
        <p:txBody>
          <a:bodyPr wrap="square">
            <a:spAutoFit/>
          </a:bodyPr>
          <a:lstStyle/>
          <a:p>
            <a:pPr algn="r"/>
            <a:r>
              <a:rPr sz="1100" b="0" i="0">
                <a:solidFill>
                  <a:srgbClr val="999999"/>
                </a:solidFill>
              </a:rP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