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2468880"/>
          </a:xfrm>
          <a:prstGeom prst="rect">
            <a:avLst/>
          </a:prstGeom>
          <a:solidFill>
            <a:srgbClr val="049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</a:rPr>
              <a:t>ラクラク勤怠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CCFFDD"/>
                </a:solidFill>
              </a:rPr>
              <a:t>機能・セキュリティ 総合説明資料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FFCC"/>
                </a:solidFill>
              </a:rPr>
              <a:t>〜 非エンジニアでもわかる、仕組みと安全性の全体像 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846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2026年5月　ラクラク勤怠 開発チーム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5778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FFCC"/>
                </a:solidFill>
              </a:rPr>
              <a:t>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目次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FFDD"/>
                </a:solidFill>
              </a:rPr>
              <a:t>この資料でわかること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</a:rPr>
              <a:t>2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577840" cy="1005840"/>
          </a:xfrm>
          <a:prstGeom prst="rect">
            <a:avLst/>
          </a:prstGeom>
          <a:solidFill>
            <a:srgbClr val="FFFFFF"/>
          </a:solidFill>
          <a:ln w="15000">
            <a:solidFill>
              <a:srgbClr val="06C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502920" cy="100584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5448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4447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サービス全体像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874519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ラクラク勤怠とは何か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5577840" cy="1005840"/>
          </a:xfrm>
          <a:prstGeom prst="rect">
            <a:avLst/>
          </a:prstGeom>
          <a:solidFill>
            <a:srgbClr val="FFFFFF"/>
          </a:solidFill>
          <a:ln w="15000">
            <a:solidFill>
              <a:srgbClr val="06C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502920" cy="100584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55448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14447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スタッフ向け機能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1874519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打刻・コンディション報告の仕組み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606040"/>
            <a:ext cx="5577840" cy="1005840"/>
          </a:xfrm>
          <a:prstGeom prst="rect">
            <a:avLst/>
          </a:prstGeom>
          <a:solidFill>
            <a:srgbClr val="FFFFFF"/>
          </a:solidFill>
          <a:ln w="15000">
            <a:solidFill>
              <a:srgbClr val="06C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2606040"/>
            <a:ext cx="502920" cy="100584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78892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67919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管理者向け機能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1089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ダッシュボードとアラートの仕組み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606040"/>
            <a:ext cx="5577840" cy="1005840"/>
          </a:xfrm>
          <a:prstGeom prst="rect">
            <a:avLst/>
          </a:prstGeom>
          <a:solidFill>
            <a:srgbClr val="FFFFFF"/>
          </a:solidFill>
          <a:ln w="15000">
            <a:solidFill>
              <a:srgbClr val="06C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2606040"/>
            <a:ext cx="502920" cy="100584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78892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267919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データの流れ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31089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情報がどこをどう通るか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840480"/>
            <a:ext cx="5577840" cy="1005840"/>
          </a:xfrm>
          <a:prstGeom prst="rect">
            <a:avLst/>
          </a:prstGeom>
          <a:solidFill>
            <a:srgbClr val="FFFFFF"/>
          </a:solidFill>
          <a:ln w="15000">
            <a:solidFill>
              <a:srgbClr val="06C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840480"/>
            <a:ext cx="502920" cy="100584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402336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391363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セキュリティ設計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3434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4層の防御でデータを守る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3840480"/>
            <a:ext cx="5577840" cy="1005840"/>
          </a:xfrm>
          <a:prstGeom prst="rect">
            <a:avLst/>
          </a:prstGeom>
          <a:solidFill>
            <a:srgbClr val="FFFFFF"/>
          </a:solidFill>
          <a:ln w="15000">
            <a:solidFill>
              <a:srgbClr val="06C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3840480"/>
            <a:ext cx="502920" cy="100584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402336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391363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過去の脆弱性と修正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43434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発見された問題と対処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074920"/>
            <a:ext cx="5577840" cy="1005840"/>
          </a:xfrm>
          <a:prstGeom prst="rect">
            <a:avLst/>
          </a:prstGeom>
          <a:solidFill>
            <a:srgbClr val="FFFFFF"/>
          </a:solidFill>
          <a:ln w="15000">
            <a:solidFill>
              <a:srgbClr val="06C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5074920"/>
            <a:ext cx="502920" cy="100584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525780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14807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法的対応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" y="55778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個人情報保護・利用規約の整備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5074920"/>
            <a:ext cx="5577840" cy="1005840"/>
          </a:xfrm>
          <a:prstGeom prst="rect">
            <a:avLst/>
          </a:prstGeom>
          <a:solidFill>
            <a:srgbClr val="FFFFFF"/>
          </a:solidFill>
          <a:ln w="15000">
            <a:solidFill>
              <a:srgbClr val="06C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09360" y="5074920"/>
            <a:ext cx="502920" cy="100584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525780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03720" y="514807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今後の課題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03720" y="55778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残っているセキュリティ強化項目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1. サービス全体像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FFDD"/>
                </a:solidFill>
              </a:rPr>
              <a:t>ラクラク勤怠とは何か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</a:rPr>
              <a:t>3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「アプリのダウンロード不要・LINEだけで使える」 派遣スタッフ向け勤怠管理サービス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920240"/>
            <a:ext cx="2697480" cy="32004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01168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FFFFFF"/>
                </a:solidFill>
              </a:rPr>
              <a:t>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74320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1タップ打刻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246120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EFFEE"/>
                </a:solidFill>
              </a:rPr>
              <a:t>出勤・退勤ボタンを
押すだけで時刻記録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920240"/>
            <a:ext cx="2697480" cy="3200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201168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FFFFFF"/>
                </a:solidFill>
              </a:rPr>
              <a:t>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74320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コンディション報告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246120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EFFEE"/>
                </a:solidFill>
              </a:rPr>
              <a:t>5段階の絵文字で
今日の調子を5秒で報告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59" y="1920240"/>
            <a:ext cx="2697480" cy="3200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59" y="201168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59" y="274320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管理者ダッシュボード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59" y="3246120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EFFEE"/>
                </a:solidFill>
              </a:rPr>
              <a:t>全スタッフの状況を
リアルタイムで一覧表示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19" y="1920240"/>
            <a:ext cx="2697480" cy="3200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201168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FFFFFF"/>
                </a:solidFill>
              </a:rPr>
              <a:t>⚠️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274320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離職防止アラート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3246120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EFFEE"/>
                </a:solidFill>
              </a:rPr>
              <a:t>調子が悪いスタッフを
自動でハイライト表示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5303520"/>
            <a:ext cx="1152144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349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55555"/>
                </a:solidFill>
              </a:rPr>
              <a:t>技術スタック（開発者向け参考情報）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66928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フロントエンド: Next.js 16 (App Router) + TypeScript + Tailwind CSS  ／  データベース: Supabase (PostgreSQL)  ／  認証基盤: LINE LIFF v2  ／  デプロイ: Vercel (CDN + Serverless Functions)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2. スタッフ向け機能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FFDD"/>
                </a:solidFill>
              </a:rPr>
              <a:t>打刻・コンディション報告の仕組み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</a:rPr>
              <a:t>4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3566160" cy="2240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3566160" cy="41148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41732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URL / QRコードを開く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管理者からLINEで送られたURLを開くだけ
アプリのダウンロードは一切不要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371600"/>
            <a:ext cx="3566160" cy="2240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1371600"/>
            <a:ext cx="3566160" cy="41148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60520" y="141732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87451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電話番号を登録（初回のみ）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331720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携帯電話番号を入力して登録
次回以降この操作は不要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1371600"/>
            <a:ext cx="3566160" cy="2240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01000" y="1371600"/>
            <a:ext cx="3566160" cy="41148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1000" y="141732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187451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出勤ボタンをタップ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331720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大きなボタンを1回タップするだけ
打刻時刻が自動で記録される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931920"/>
            <a:ext cx="3566160" cy="2240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931920"/>
            <a:ext cx="3566160" cy="41148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3977639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4348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コンディションを報告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892040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😄良い ／ 😊まあまあ ／ 😐普通 ／ 😔疲れ ／ 😢しんどい
の5段階から選ぶ（5秒で完了・任意）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60520" y="3931920"/>
            <a:ext cx="3566160" cy="2240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60520" y="3931920"/>
            <a:ext cx="3566160" cy="41148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60520" y="3977639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STEP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44348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退勤ボタンをタップ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4892040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帰るときに退勤ボタンを押す
勤務時間が自動計算される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01000" y="1371600"/>
            <a:ext cx="3840480" cy="22402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01000" y="1371600"/>
            <a:ext cx="3840480" cy="411480"/>
          </a:xfrm>
          <a:prstGeom prst="rect">
            <a:avLst/>
          </a:prstGeom>
          <a:solidFill>
            <a:srgbClr val="049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01000" y="141732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GPS機能（補足）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1828800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出勤タップ時、バックグラウンドで
位置情報を自動取得・記録
✔ 許可しなくても打刻は正常動作
✔ 不正打刻（場所確認）に活用
✔ データはSupabaseに安全保存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3. 管理者向け機能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FFDD"/>
                </a:solidFill>
              </a:rPr>
              <a:t>ダッシュボードとアラートの仕組み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</a:rPr>
              <a:t>5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5303520" cy="5166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5303520" cy="3840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3441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ダッシュボード機能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288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7451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登録スタッフ数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17627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打刻したスタッフの総数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578608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24327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出勤済み人数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926079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当日出勤済みのスタッフ数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328415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⚠️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74135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要フォロー人数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675887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コンディション「疲れ・しんどい」の数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078224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12394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出退勤時刻一覧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42569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各スタッフの出勤・退勤・勤務時間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828031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873751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日付切り替え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175503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過去の日付のデータを遡って確認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55778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62355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コンディション表示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92531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絵文字＋ラベルで状態を一目で把握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1325880"/>
            <a:ext cx="5943600" cy="5166360"/>
          </a:xfrm>
          <a:prstGeom prst="rect">
            <a:avLst/>
          </a:prstGeom>
          <a:solidFill>
            <a:srgbClr val="FF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0" y="1325880"/>
            <a:ext cx="5943600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0" y="134416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⚠️ 要フォローアラートの仕組み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18288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コンディションスコアが「2以下」のスタッフを自動検出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2423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😄 絶好調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24231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6C755"/>
                </a:solidFill>
              </a:rPr>
              <a:t>スコア: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299008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😊 良い感じ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2990088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C55E"/>
                </a:solidFill>
              </a:rPr>
              <a:t>スコア: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3557015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😐 普通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0" y="3557015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スコア: 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89320" y="4087368"/>
            <a:ext cx="5806440" cy="512064"/>
          </a:xfrm>
          <a:prstGeom prst="rect">
            <a:avLst/>
          </a:prstGeom>
          <a:solidFill>
            <a:srgbClr val="FF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80760" y="412394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😔 少し疲れ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0" y="4123944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C2626"/>
                </a:solidFill>
              </a:rPr>
              <a:t>スコア: 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49840" y="412394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C2626"/>
                </a:solidFill>
              </a:rPr>
              <a:t>← 行が赤くなり管理者に通知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89320" y="4654296"/>
            <a:ext cx="5806440" cy="512064"/>
          </a:xfrm>
          <a:prstGeom prst="rect">
            <a:avLst/>
          </a:prstGeom>
          <a:solidFill>
            <a:srgbClr val="FF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80760" y="46908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😢 しんどい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0" y="469087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C2626"/>
                </a:solidFill>
              </a:rPr>
              <a:t>スコア: 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49840" y="469087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C2626"/>
                </a:solidFill>
              </a:rPr>
              <a:t>← 行が赤くなり管理者に通知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5303520"/>
            <a:ext cx="5806440" cy="1005840"/>
          </a:xfrm>
          <a:prstGeom prst="rect">
            <a:avLst/>
          </a:prstGeom>
          <a:solidFill>
            <a:srgbClr val="FF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0" y="5349240"/>
            <a:ext cx="5577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管理者へのアクセス制限
パスワード認証（サーバーサイド検証）済み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4. データの流れ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FFDD"/>
                </a:solidFill>
              </a:rPr>
              <a:t>情報がどこをどう通るか（非エンジニア向け）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</a:rPr>
              <a:t>6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017520"/>
            <a:ext cx="1828800" cy="164592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📱
スタッフの
スマートフォン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3017520"/>
            <a:ext cx="1828800" cy="1645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310896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🌐
Vercel
（アプリサーバー）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1371600"/>
            <a:ext cx="1828800" cy="1645920"/>
          </a:xfrm>
          <a:prstGeom prst="rect">
            <a:avLst/>
          </a:prstGeom>
          <a:solidFill>
            <a:srgbClr val="00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46304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🔑
LINE
（本人確認）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4663440"/>
            <a:ext cx="1828800" cy="1645920"/>
          </a:xfrm>
          <a:prstGeom prst="rect">
            <a:avLst/>
          </a:prstGeom>
          <a:solidFill>
            <a:srgbClr val="1F8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4754879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🗄️
Supabase
（データベース）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66960" y="3017520"/>
            <a:ext cx="1828800" cy="1645920"/>
          </a:xfrm>
          <a:prstGeom prst="rect">
            <a:avLst/>
          </a:prstGeom>
          <a:solidFill>
            <a:srgbClr val="44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60" y="310896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💻
管理者の
パソコン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3657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3977640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55555"/>
                </a:solidFill>
              </a:rPr>
              <a:t>打刻・コンディション
データを送信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20116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2331720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55555"/>
                </a:solidFill>
              </a:rPr>
              <a:t>LINE IDで
本人確認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53492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5669280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55555"/>
                </a:solidFill>
              </a:rPr>
              <a:t>出退勤データ
を保存・取得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3657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3977640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55555"/>
                </a:solidFill>
              </a:rPr>
              <a:t>データを
表示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486400"/>
            <a:ext cx="11521440" cy="11430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53212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4ED8"/>
                </a:solidFill>
              </a:rPr>
              <a:t>💡 ポイント：通信はすべてHTTPS（暗号化）で保護されています。パスワードや個人情報が途中で盗み見られることはありません。
データはすべてSupabaseのサーバー（AWS 東京リージョン）に保存。スタッフの情報はスマートフォン本体には一切残りません。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5. セキュリティ設計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FFDD"/>
                </a:solidFill>
              </a:rPr>
              <a:t>4層の防御でデータを守る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</a:rPr>
              <a:t>7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11521440" cy="1143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1371600" cy="1143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41732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9659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第1層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463040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</a:rPr>
              <a:t>通信の暗号化（HTTPS）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938528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スマートフォン ↔ サーバー間の通信をすべて暗号化。
打刻データ・パスワード・位置情報などが第三者に見える心配はない。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697480"/>
            <a:ext cx="11521440" cy="1143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697480"/>
            <a:ext cx="1371600" cy="1143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7432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3291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第2層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788920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</a:rPr>
              <a:t>LINE本人確認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264408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打刻にはLINEアカウントが必須。LINE IDはLINE社が厳重に管理しており、
他人がなりすまして打刻することは極めて困難。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023360"/>
            <a:ext cx="11521440" cy="1143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4023360"/>
            <a:ext cx="1371600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406908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46177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第3層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114800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</a:rPr>
              <a:t>管理者パスワード（サーバー検証）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590288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管理画面のパスワードはサーバー内部でのみ照合。
ブラウザ側（スマホ・PC）にパスワードの情報は一切残らない設計。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349240"/>
            <a:ext cx="11521440" cy="1143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5349240"/>
            <a:ext cx="1371600" cy="1143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5394959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5943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第4層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5440679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</a:rPr>
              <a:t>データアクセス制限（RLS）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916168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Supabaseのデータベース側でルール設定済み。
自分のデータは自分だけが見られ、他スタッフのデータは参照不可。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6. 発見された脆弱性と修正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FFDD"/>
                </a:solidFill>
              </a:rPr>
              <a:t>開発中に発見・対処したセキュリティ問題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</a:rPr>
              <a:t>8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開発中に発見された問題を迅速に修正しました。透明性の観点からすべて開示します。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28800"/>
            <a:ext cx="1152144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828800"/>
            <a:ext cx="11521440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【重大】管理者パスワードの漏洩リスク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187451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✅ 修正完了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042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</a:rPr>
              <a:t>■ 問題の内容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0604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「NEXT_PUBLIC_ADMIN_PASSWORD」という名前で環境変数を設定していた。
Next.jsでは「NEXT_PUBLIC_」のついた変数はブラウザ側に自動公開される仕様のため、
誰でも管理者パスワードを見られる状態だった。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08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6C755"/>
                </a:solidFill>
              </a:rPr>
              <a:t>■ 対処内容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40156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API Route（サーバーサイド機能）を新設。パスワードの照合はサーバー内部のみで行うよう変更。
ブラウザにはパスワード情報を一切送らない設計に修正済み。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069080"/>
            <a:ext cx="1152144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069080"/>
            <a:ext cx="1152144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1148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【中】データベースのアクセス制限（RLS）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41148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✅ 修正完了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5445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</a:rPr>
              <a:t>■ 問題の内容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4632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Supabaseのデータベースは初期状態では全データに誰でもアクセス可能。
このままでは全スタッフの打刻データが外部から参照・改ざんできる状態だった。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349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6C755"/>
                </a:solidFill>
              </a:rPr>
              <a:t>■ 対処内容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64184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Row Level Security（行単位のアクセス制限）を設定。
自分のLINE IDに紐づくデータのみ読み書き可能なルールを適用済み。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7. 法的対応・整備状況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FFDD"/>
                </a:solidFill>
              </a:rPr>
              <a:t>サービス運営に必要な法的ページの整備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</a:rPr>
              <a:t>9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1152144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228600" cy="146304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630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</a:rPr>
              <a:t>プライバシーポリシー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8470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/privacy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14630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06C755"/>
                </a:solidFill>
              </a:rPr>
              <a:t>✅ 整備済み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1762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・収集する個人情報の種類（LINE情報・電話番号・GPS・打刻データ）を明記
・データの保管先（AWS東京リージョン）を明記
・GPS取得の同意UIをアプリ内に設置済み
・利用目的・第三者提供の条件・問い合わせ先を記載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017520"/>
            <a:ext cx="1152144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3017520"/>
            <a:ext cx="228600" cy="146304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1089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</a:rPr>
              <a:t>利用規約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4930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/terms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31089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06C755"/>
                </a:solidFill>
              </a:rPr>
              <a:t>✅ 整備済み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822191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・サービスの提供条件・禁止事項を8条で規定
・免責事項・サービス変更・解約条件を明記
・準拠法（日本法）・管轄裁判所を指定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663440"/>
            <a:ext cx="1152144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4663440"/>
            <a:ext cx="228600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5487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</a:rPr>
              <a:t>特定商取引法に基づく表記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138927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/legal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4754879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59E0B"/>
                </a:solidFill>
              </a:rPr>
              <a:t>⏳ 会社情報の記入待ち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46811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・販売業者名・所在地・連絡先のプレースホルダーを設置済み
・オーナー様による会社情報の記入が必要
・記入後、すぐに公開可能な状態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6400800"/>
            <a:ext cx="11521440" cy="3200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41908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49A40"/>
                </a:solidFill>
              </a:rPr>
              <a:t>💡 LPページ（/lp）・スタッフ向けマニュアル・管理者向けマニュアルも整備済み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8. 今後の課題・強化項目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FFDD"/>
                </a:solidFill>
              </a:rPr>
              <a:t>残っているセキュリティ・機能強化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</a:rPr>
              <a:t>10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3703320" cy="5212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3703320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344168"/>
            <a:ext cx="3703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P1 最優先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342900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901952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</a:rPr>
              <a:t>特定商取引法の会社情報記入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0428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</a:rPr>
              <a:t>担当: オーナー様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578608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法的義務のため公開前に必須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37560"/>
            <a:ext cx="342900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410712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</a:rPr>
              <a:t>Vercel環境変数 ADMIN_PASSWORD の設定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81304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</a:rPr>
              <a:t>担当: オーナー様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087368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管理画面ログインに必要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846320"/>
            <a:ext cx="342900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919472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</a:rPr>
              <a:t>Supabaseでadminロール設定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32180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</a:rPr>
              <a:t>担当: オーナー様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596128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管理者権限の正式付与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59" y="1325880"/>
            <a:ext cx="3703320" cy="5212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59" y="1325880"/>
            <a:ext cx="370332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51959" y="1344168"/>
            <a:ext cx="3703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P2 近日中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1828800"/>
            <a:ext cx="342900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59" y="1901952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</a:rPr>
              <a:t>Supabase Auth（正式認証）への移行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59" y="230428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担当: 開発チーム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59" y="2578608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管理者権限をDB側で厳密に制御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120" y="3337560"/>
            <a:ext cx="342900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59" y="3410712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</a:rPr>
              <a:t>管理者LINE通知機能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59" y="381304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担当: 開発チーム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59" y="4087368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要フォロースタッフ発生時に即時通知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89120" y="4846320"/>
            <a:ext cx="342900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0559" y="4919472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</a:rPr>
              <a:t>打刻修正機能（管理画面）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59" y="532180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担当: 開発チーム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59" y="5596128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現在はSupabase直接修正が必要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83879" y="1325880"/>
            <a:ext cx="3703320" cy="5212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83879" y="1325880"/>
            <a:ext cx="3703320" cy="3840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83879" y="1344168"/>
            <a:ext cx="3703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P3 将来的に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21040" y="1828800"/>
            <a:ext cx="342900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80" y="1901952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</a:rPr>
              <a:t>独自ドメイン取得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230428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D4ED8"/>
                </a:solidFill>
              </a:rPr>
              <a:t>担当: オーナー様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2578608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ブランディング強化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21040" y="3337560"/>
            <a:ext cx="342900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80" y="3410712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</a:rPr>
              <a:t>Stripe決済連携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381304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D4ED8"/>
                </a:solidFill>
              </a:rPr>
              <a:t>担当: 開発チーム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4087368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有料プラン課金の自動化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21040" y="4846320"/>
            <a:ext cx="342900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12480" y="4919472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</a:rPr>
              <a:t>CSVエクスポート機能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532180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D4ED8"/>
                </a:solidFill>
              </a:rPr>
              <a:t>担当: 開発チーム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0" y="5596128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給与計算への連携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6446520"/>
            <a:ext cx="11521440" cy="3200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646480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49A40"/>
                </a:solidFill>
              </a:rPr>
              <a:t>P1の3項目が完了次第、サービスとして正式公開可能な状態になります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