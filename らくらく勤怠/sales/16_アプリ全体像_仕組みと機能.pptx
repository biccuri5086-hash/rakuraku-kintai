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C7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0"/>
            <a:ext cx="137160" cy="685800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6C755"/>
                </a:solidFill>
              </a:rPr>
              <a:t>ラクラク勤怠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サービス全体像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B8D"/>
                </a:solidFill>
              </a:rPr>
              <a:t>〜 仕組みと機能のご紹介 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9"/>
              </a:spcAft>
            </a:pPr>
            <a:r>
              <a:rPr sz="1300" b="0">
                <a:solidFill>
                  <a:srgbClr val="6B7B8D"/>
                </a:solidFill>
              </a:rPr>
              <a:t>対象：派遣会社向け勤怠管理SaaS</a:t>
            </a:r>
          </a:p>
          <a:p>
            <a:pPr algn="l">
              <a:spcAft>
                <a:spcPts val="129"/>
              </a:spcAft>
            </a:pPr>
            <a:r>
              <a:rPr sz="1300" b="0">
                <a:solidFill>
                  <a:srgbClr val="6B7B8D"/>
                </a:solidFill>
              </a:rPr>
              <a:t>入口：LINE（スタッフ）／Web管理画面（管理者・運営）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0972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非エンジニア向け説明資料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217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FFDD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1. このサービスは何か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FF0"/>
                </a:solidFill>
              </a:rPr>
              <a:t>派遣会社向けの勤怠管理SaaS。3者が関わる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2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11880" cy="59436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派遣スタッフ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LINEで打刻・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コンディション報告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B8D"/>
                </a:solidFill>
              </a:rPr>
              <a:t>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</a:rPr>
              <a:t>LINE (LIFF)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6304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611880" cy="59436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361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派遣会社の管理者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出退勤確認・シフト/契約/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給与/コンプラ管理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91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B8D"/>
                </a:solidFill>
              </a:rPr>
              <a:t>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8BE6"/>
                </a:solidFill>
              </a:rPr>
              <a:t>Web管理画面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8BE6"/>
                </a:solidFill>
              </a:rPr>
              <a:t>/admin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463040"/>
            <a:ext cx="36118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5361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運営（自社）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契約している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派遣会社（テナント）の管理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B8D"/>
                </a:solidFill>
              </a:rPr>
              <a:t>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Web管理画面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/superadmin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49A40"/>
                </a:solidFill>
              </a:rPr>
              <a:t>一つのシステムを、契約している派遣会社ごとにデータを分離して提供している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2. 全体の仕組み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FF0"/>
                </a:solidFill>
              </a:rPr>
              <a:t>情報がどこをどう通るか（データの流れ）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3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2103120" cy="1828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9260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スタッフの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4612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スマホ（LINE）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2011680"/>
            <a:ext cx="2103120" cy="1828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2148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1A1A"/>
                </a:solidFill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59" y="29260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Vercel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59" y="324612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（アプリ本体）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59" y="2011680"/>
            <a:ext cx="2103120" cy="1828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2148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1A1A"/>
                </a:solidFill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9260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324612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（本人確認）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011680"/>
            <a:ext cx="2103120" cy="1828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148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1A1A"/>
                </a:solidFill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9260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24612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（データベース）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2011680"/>
            <a:ext cx="2103120" cy="1828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148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A1A1A"/>
                </a:solidFill>
              </a:rPr>
              <a:t>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29260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管理者の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324612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パソコン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89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sz="1500" b="0">
                <a:solidFill>
                  <a:srgbClr val="1A1A1A"/>
                </a:solidFill>
              </a:rPr>
              <a:t>・ 通信はすべてHTTPSで暗号化</a:t>
            </a:r>
          </a:p>
          <a:p>
            <a:pPr algn="l">
              <a:spcAft>
                <a:spcPts val="450"/>
              </a:spcAft>
            </a:pPr>
            <a:r>
              <a:rPr sz="1500" b="0">
                <a:solidFill>
                  <a:srgbClr val="1A1A1A"/>
                </a:solidFill>
              </a:rPr>
              <a:t>・ スタッフのスマホ本体にはデータを残さない（サーバー側に集約）</a:t>
            </a:r>
          </a:p>
          <a:p>
            <a:pPr algn="l">
              <a:spcAft>
                <a:spcPts val="450"/>
              </a:spcAft>
            </a:pPr>
            <a:r>
              <a:rPr sz="1500" b="0">
                <a:solidFill>
                  <a:srgbClr val="1A1A1A"/>
                </a:solidFill>
              </a:rPr>
              <a:t>・ 派遣会社ごとにデータが分離される設計（他社のデータは見えない）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3. データモデルの考え方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FF0"/>
                </a:solidFill>
              </a:rPr>
              <a:t>単発の仕事も、長期の仕事も、同じ仕組みで扱う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4754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9728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C755"/>
                </a:solidFill>
              </a:rPr>
              <a:t>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09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派遣元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（契約している派遣会社）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B8D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4754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514600"/>
            <a:ext cx="109728" cy="7772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587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8BE6"/>
                </a:solidFill>
              </a:rPr>
              <a:t>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派遣先企業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91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B8D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74720"/>
            <a:ext cx="4754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474720"/>
            <a:ext cx="109728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47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8C00"/>
                </a:solidFill>
              </a:rPr>
              <a:t>assignments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529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契約・アサイン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8221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（単発 or 中長期）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2519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B8D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434840"/>
            <a:ext cx="4754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434840"/>
            <a:ext cx="109728" cy="777240"/>
          </a:xfrm>
          <a:prstGeom prst="rect">
            <a:avLst/>
          </a:prstGeom>
          <a:solidFill>
            <a:srgbClr val="8E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507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E5BE0"/>
                </a:solidFill>
              </a:rPr>
              <a:t>shifts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4897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シフト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782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（予定・確定・完了・欠勤）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2120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B8D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394959"/>
            <a:ext cx="47548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5394959"/>
            <a:ext cx="109728" cy="77724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468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49A40"/>
                </a:solidFill>
              </a:rPr>
              <a:t>attendance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44982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8D"/>
                </a:solidFill>
              </a:rPr>
              <a:t>実際の打刻データ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103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「今日1日だけの仕事」も「数ヶ月契約の仕事」も、同じデータ構造の上で
シフト管理・勤怠集計・給与計算までつながる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931920"/>
            <a:ext cx="5486400" cy="14630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114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9A40"/>
                </a:solidFill>
              </a:rPr>
              <a:t>💡 単発＝中長期の特殊ケース（1回きり）として
同じ仕組みに乗せる設計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 スタッフ機能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FF0"/>
                </a:solidFill>
              </a:rPr>
              <a:t>LINEで完結。アプリのダウンロード不要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9748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登録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初回のみ電話番号を入力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（アプリDL不要）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9748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打刻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「出勤する」「退勤する」を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743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1タップ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69748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コンディション報告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5段階の絵文字で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「今日の調子」を毎日記録（5秒）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69748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GPS記録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打刻時に位置情報を自動取得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743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</a:rPr>
              <a:t>（不正打刻の確認に活用）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6C755"/>
                </a:solidFill>
              </a:rPr>
              <a:t>スマホ操作が苦手なスタッフでも、当日から迷わず使える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5. 管理者機能①：日々の現場管理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6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97480" cy="4114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97480" cy="50292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ダッシュボード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全スタッフの出退勤状況と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コンディションを一覧表示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697480" cy="4114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97480" cy="50292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36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要フォローアラート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コンディションが悪い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スタッフを自動で可視化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97480" cy="4114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97480" cy="50292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36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シフト管理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予定・確定・完了・欠勤を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ステータス管理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697480" cy="4114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697480" cy="50292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536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派遣先・契約管理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派遣先企業（clients）、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契約/アサインを登録・管理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6. 管理者機能②：バックオフィス業務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7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給与集計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54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勤怠データから給与を自動集計（設定画面あり）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67128"/>
            <a:ext cx="11430000" cy="71323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有給管理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3042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スタッフの有給取得状況を管理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1693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派遣法コンプライアンス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05409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抵触日を基準に「余裕あり／要注意／超過」を自動判定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66744"/>
            <a:ext cx="11430000" cy="71323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85615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請求（billing）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80390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派遣先向けの請求管理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1655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354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監査ログ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5537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ログイン・操作履歴を記録（誰が・いつ・何をしたか）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66360"/>
            <a:ext cx="11430000" cy="71323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852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派遣先向けレポート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3035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client-report として出力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7. 運営（自社）機能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77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8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契約している派遣会社（テナント）の追加・管理を /superadmin から実施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1106424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747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管理者・運営ともに2段階認証（2FA）に対応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0060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パスワードは12文字以上・英字/数字/記号必須のポリシーで統一管理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C7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920240"/>
            <a:ext cx="94183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sz="1800" b="0">
                <a:solidFill>
                  <a:srgbClr val="1A1A1A"/>
                </a:solidFill>
              </a:rPr>
              <a:t>「LINEで完結する打刻・コンディション報告」を入口に、</a:t>
            </a:r>
          </a:p>
          <a:p>
            <a:pPr algn="ctr">
              <a:spcAft>
                <a:spcPts val="450"/>
              </a:spcAft>
            </a:pPr>
            <a:r>
              <a:rPr sz="1800" b="0">
                <a:solidFill>
                  <a:srgbClr val="1A1A1A"/>
                </a:solidFill>
              </a:rPr>
              <a:t/>
            </a:r>
          </a:p>
          <a:p>
            <a:pPr algn="ctr">
              <a:spcAft>
                <a:spcPts val="450"/>
              </a:spcAft>
            </a:pPr>
            <a:r>
              <a:rPr sz="1800" b="0">
                <a:solidFill>
                  <a:srgbClr val="1A1A1A"/>
                </a:solidFill>
              </a:rPr>
              <a:t>シフト・契約・給与・派遣法コンプライアンスまでを</a:t>
            </a:r>
          </a:p>
          <a:p>
            <a:pPr algn="ctr">
              <a:spcAft>
                <a:spcPts val="450"/>
              </a:spcAft>
            </a:pPr>
            <a:r>
              <a:rPr sz="1800" b="0">
                <a:solidFill>
                  <a:srgbClr val="1A1A1A"/>
                </a:solidFill>
              </a:rPr>
              <a:t>1つのデータ基盤でつなげているのが</a:t>
            </a:r>
          </a:p>
          <a:p>
            <a:pPr algn="ctr">
              <a:spcAft>
                <a:spcPts val="450"/>
              </a:spcAft>
            </a:pPr>
            <a:r>
              <a:rPr sz="1800" b="0">
                <a:solidFill>
                  <a:srgbClr val="1A1A1A"/>
                </a:solidFill>
              </a:rPr>
              <a:t/>
            </a:r>
          </a:p>
          <a:p>
            <a:pPr algn="ctr">
              <a:spcAft>
                <a:spcPts val="450"/>
              </a:spcAft>
            </a:pPr>
            <a:r>
              <a:rPr sz="1800" b="0">
                <a:solidFill>
                  <a:srgbClr val="1A1A1A"/>
                </a:solidFill>
              </a:rPr>
              <a:t>ラクラク勤怠の全体像。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FF0"/>
                </a:solidFill>
              </a:rPr>
              <a:t>技術構成：Next.js（App Router）+ TypeScript ／ Supabase（PostgreSQL）／ LINE LIFF ／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E8FFF0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