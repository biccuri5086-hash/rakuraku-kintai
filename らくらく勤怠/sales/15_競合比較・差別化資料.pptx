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91672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</a:rPr>
              <a:t>Competitive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3A5F"/>
                </a:solidFill>
              </a:rPr>
              <a:t>ラクラク勤怠の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6C755"/>
                </a:solidFill>
              </a:rPr>
              <a:t>強みと差別化ポイント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749039"/>
            <a:ext cx="137160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</a:pPr>
            <a:r>
              <a:rPr sz="1600" b="0">
                <a:solidFill>
                  <a:srgbClr val="6B7B8D"/>
                </a:solidFill>
              </a:rPr>
              <a:t>派遣会社向け勤怠管理SaaS市場における、</a:t>
            </a:r>
          </a:p>
          <a:p>
            <a:pPr algn="l">
              <a:spcAft>
                <a:spcPts val="480"/>
              </a:spcAft>
            </a:pPr>
            <a:r>
              <a:rPr sz="1600" b="0">
                <a:solidFill>
                  <a:srgbClr val="6B7B8D"/>
                </a:solidFill>
              </a:rPr>
              <a:t>ラクラク勤怠の独自ポジションと、競合に対する明確な優位性。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120640"/>
            <a:ext cx="10332720" cy="64008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285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</a:rPr>
              <a:t>比較対象：KING OF TIME / ジョブカン / マネーフォワード勤怠 / freee人事労務 / タッチオンタイム / 紙タイムカード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B8D"/>
                </a:solidFill>
              </a:rPr>
              <a:t>2026年版  |  ラクラク勤怠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</a:rPr>
              <a:t>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結論：3行で言うと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本資料の要約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</a:rPr>
              <a:t>ラクラク勤怠の独自ポジション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9144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057400"/>
            <a:ext cx="731520" cy="731520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6712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</a:rPr>
              <a:t>唯一の機能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74720"/>
            <a:ext cx="54864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</a:pPr>
            <a:r>
              <a:rPr sz="1300" b="0">
                <a:solidFill>
                  <a:srgbClr val="1A1A1A"/>
                </a:solidFill>
              </a:rPr>
              <a:t>「コンディション報告」を標準搭載しているのは、市場で当社だけ。</a:t>
            </a:r>
          </a:p>
          <a:p>
            <a:pPr algn="l">
              <a:spcAft>
                <a:spcPts val="390"/>
              </a:spcAft>
            </a:pPr>
            <a:r>
              <a:rPr sz="1300" b="0">
                <a:solidFill>
                  <a:srgbClr val="1A1A1A"/>
                </a:solidFill>
              </a:rPr>
              <a:t>離職予兆を毎日5秒で可視化する、業界唯一のSaaSです。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92024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80560" y="2057400"/>
            <a:ext cx="731520" cy="731520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16712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9260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</a:rPr>
              <a:t>圧倒的に安い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3474720"/>
            <a:ext cx="54864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65760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</a:pPr>
            <a:r>
              <a:rPr sz="1300" b="0">
                <a:solidFill>
                  <a:srgbClr val="1A1A1A"/>
                </a:solidFill>
              </a:rPr>
              <a:t>月150〜200円/人。KING OF TIMEの約半額、紙タイムカードと同等水準。</a:t>
            </a:r>
          </a:p>
          <a:p>
            <a:pPr algn="l">
              <a:spcAft>
                <a:spcPts val="390"/>
              </a:spcAft>
            </a:pPr>
            <a:r>
              <a:rPr sz="1300" b="0">
                <a:solidFill>
                  <a:srgbClr val="1A1A1A"/>
                </a:solidFill>
              </a:rPr>
              <a:t>中小派遣会社が無理なく導入できる価格設計です。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92024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75320" y="2057400"/>
            <a:ext cx="731520" cy="731520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16712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9260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</a:rPr>
              <a:t>今日から使える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3474720"/>
            <a:ext cx="54864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65760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</a:pPr>
            <a:r>
              <a:rPr sz="1300" b="0">
                <a:solidFill>
                  <a:srgbClr val="1A1A1A"/>
                </a:solidFill>
              </a:rPr>
              <a:t>LINEで完結、アプリDL不要、初期費用ゼロ、30分でセットアップ完了。</a:t>
            </a:r>
          </a:p>
          <a:p>
            <a:pPr algn="l">
              <a:spcAft>
                <a:spcPts val="390"/>
              </a:spcAft>
            </a:pPr>
            <a:r>
              <a:rPr sz="1300" b="0">
                <a:solidFill>
                  <a:srgbClr val="1A1A1A"/>
                </a:solidFill>
              </a:rPr>
              <a:t>機器購入も不要、当日から運用開始できます。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ラクラク勤怠  |  競合比較・差別化資料  |  小原 健太  080-9895-7770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</a:rPr>
              <a:t>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派遣業界の勤怠管理 市場マップ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ポジショニングで見る競合関係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B8D"/>
                </a:solidFill>
              </a:rPr>
              <a:t>縦軸：価格  /  横軸：派遣業界への最適化度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554480"/>
            <a:ext cx="9601200" cy="4572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B8D"/>
                </a:solidFill>
              </a:rPr>
              <a:t>高い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760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B8D"/>
                </a:solidFill>
              </a:rPr>
              <a:t>安い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F3A5F"/>
                </a:solidFill>
              </a:rPr>
              <a:t>価格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61996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</a:rPr>
              <a:t>汎用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1996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B8D"/>
                </a:solidFill>
              </a:rPr>
              <a:t>派遣特化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6446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派遣業界への最適化度 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7628" y="1554480"/>
            <a:ext cx="9144" cy="4572000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3835908"/>
            <a:ext cx="9601200" cy="9144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43200" y="2011680"/>
            <a:ext cx="1645920" cy="73152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2057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KING OF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331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DEE"/>
                </a:solidFill>
              </a:rPr>
              <a:t>330円/人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2468880"/>
            <a:ext cx="1463040" cy="731520"/>
          </a:xfrm>
          <a:prstGeom prst="roundRect">
            <a:avLst>
              <a:gd name="adj" fmla="val 8000"/>
            </a:avLst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514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ジョブカン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788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200-400円/人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3200400"/>
            <a:ext cx="1737360" cy="640080"/>
          </a:xfrm>
          <a:prstGeom prst="roundRect">
            <a:avLst>
              <a:gd name="adj" fmla="val 8000"/>
            </a:avLst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246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マネーフォワード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52043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300円/人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2926080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2971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freee人事労務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246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300円〜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4023360"/>
            <a:ext cx="1554480" cy="640080"/>
          </a:xfrm>
          <a:prstGeom prst="roundRect">
            <a:avLst>
              <a:gd name="adj" fmla="val 8000"/>
            </a:avLst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4069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タッチオンタイム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3434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300円/人+機器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20240" y="475488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0240" y="4800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紙タイムカード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074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0円〜小コスト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4480560"/>
            <a:ext cx="2194560" cy="1188720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4617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★ ラクラク勤怠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0109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150〜200円/人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53218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派遣特化×低価格×LINE完結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E53E3E"/>
                </a:solidFill>
              </a:rPr>
              <a:t>← 空白地帯（誰もいない）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ラクラク勤怠  |  競合比較・差別化資料  |  小原 健太  080-9895-7770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</a:rPr>
              <a:t>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一目で分かる 機能・価格 比較表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派遣会社が重視する10項目で評価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286000" cy="44805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項目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097280"/>
            <a:ext cx="1554480" cy="448056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170432"/>
            <a:ext cx="1554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ラクラク勤怠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097280"/>
            <a:ext cx="1463040" cy="44805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170432"/>
            <a:ext cx="14630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KING OF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097280"/>
            <a:ext cx="1508760" cy="44805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170432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ジョブカン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1097280"/>
            <a:ext cx="1508760" cy="44805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1170432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マネーフォワード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1097280"/>
            <a:ext cx="1508760" cy="44805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1170432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freee人事労務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87000" y="1097280"/>
            <a:ext cx="1417320" cy="44805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0" y="1170432"/>
            <a:ext cx="1417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紙タイムカード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545336"/>
            <a:ext cx="228600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636776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</a:rPr>
              <a:t>月額（1人）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1545336"/>
            <a:ext cx="1554480" cy="448056"/>
          </a:xfrm>
          <a:prstGeom prst="rect">
            <a:avLst/>
          </a:prstGeom>
          <a:solidFill>
            <a:srgbClr val="E8F8EE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1636776"/>
            <a:ext cx="1554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49A40"/>
                </a:solidFill>
              </a:rPr>
              <a:t>150〜200円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1545336"/>
            <a:ext cx="14630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1636776"/>
            <a:ext cx="14630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</a:rPr>
              <a:t>330円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1545336"/>
            <a:ext cx="150876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0" y="1636776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</a:rPr>
              <a:t>200-400円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69480" y="1545336"/>
            <a:ext cx="150876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9480" y="1636776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</a:rPr>
              <a:t>300円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8240" y="1545336"/>
            <a:ext cx="150876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0" y="1636776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</a:rPr>
              <a:t>300円〜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87000" y="1545336"/>
            <a:ext cx="141732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87000" y="1636776"/>
            <a:ext cx="1417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</a:rPr>
              <a:t>0円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1993391"/>
            <a:ext cx="2286000" cy="448056"/>
          </a:xfrm>
          <a:prstGeom prst="rect">
            <a:avLst/>
          </a:prstGeom>
          <a:solidFill>
            <a:srgbClr val="F5F6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2084831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</a:rPr>
              <a:t>初期費用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0" y="1993391"/>
            <a:ext cx="1554480" cy="448056"/>
          </a:xfrm>
          <a:prstGeom prst="rect">
            <a:avLst/>
          </a:prstGeom>
          <a:solidFill>
            <a:srgbClr val="E8F8EE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0" y="2084831"/>
            <a:ext cx="1554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49A40"/>
                </a:solidFill>
              </a:rPr>
              <a:t>0円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1993391"/>
            <a:ext cx="1463040" cy="448056"/>
          </a:xfrm>
          <a:prstGeom prst="rect">
            <a:avLst/>
          </a:prstGeom>
          <a:solidFill>
            <a:srgbClr val="F5F6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0" y="2084831"/>
            <a:ext cx="14630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</a:rPr>
              <a:t>0円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0" y="1993391"/>
            <a:ext cx="1508760" cy="448056"/>
          </a:xfrm>
          <a:prstGeom prst="rect">
            <a:avLst/>
          </a:prstGeom>
          <a:solidFill>
            <a:srgbClr val="F5F6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0" y="2084831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</a:rPr>
              <a:t>0円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69480" y="1993391"/>
            <a:ext cx="1508760" cy="448056"/>
          </a:xfrm>
          <a:prstGeom prst="rect">
            <a:avLst/>
          </a:prstGeom>
          <a:solidFill>
            <a:srgbClr val="F5F6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69480" y="2084831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</a:rPr>
              <a:t>0円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78240" y="1993391"/>
            <a:ext cx="1508760" cy="448056"/>
          </a:xfrm>
          <a:prstGeom prst="rect">
            <a:avLst/>
          </a:prstGeom>
          <a:solidFill>
            <a:srgbClr val="F5F6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0" y="2084831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</a:rPr>
              <a:t>0円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287000" y="1993391"/>
            <a:ext cx="1417320" cy="448056"/>
          </a:xfrm>
          <a:prstGeom prst="rect">
            <a:avLst/>
          </a:prstGeom>
          <a:solidFill>
            <a:srgbClr val="F5F6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87000" y="2084831"/>
            <a:ext cx="1417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</a:rPr>
              <a:t>0円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2441448"/>
            <a:ext cx="228600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2532888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</a:rPr>
              <a:t>LINE完結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0" y="2441448"/>
            <a:ext cx="1554480" cy="448056"/>
          </a:xfrm>
          <a:prstGeom prst="rect">
            <a:avLst/>
          </a:prstGeom>
          <a:solidFill>
            <a:srgbClr val="E8F8EE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0" y="2532888"/>
            <a:ext cx="1554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49A40"/>
                </a:solidFill>
              </a:rPr>
              <a:t>○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97680" y="2441448"/>
            <a:ext cx="14630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97680" y="2532888"/>
            <a:ext cx="14630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3E3E"/>
                </a:solidFill>
              </a:rPr>
              <a:t>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60720" y="2441448"/>
            <a:ext cx="150876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60720" y="2532888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3E3E"/>
                </a:solidFill>
              </a:rPr>
              <a:t>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69480" y="2441448"/>
            <a:ext cx="150876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69480" y="2532888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3E3E"/>
                </a:solidFill>
              </a:rPr>
              <a:t>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78240" y="2441448"/>
            <a:ext cx="150876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78240" y="2532888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3E3E"/>
                </a:solidFill>
              </a:rPr>
              <a:t>×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287000" y="2441448"/>
            <a:ext cx="141732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2532888"/>
            <a:ext cx="1417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3E3E"/>
                </a:solidFill>
              </a:rPr>
              <a:t>×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2889504"/>
            <a:ext cx="2286000" cy="448056"/>
          </a:xfrm>
          <a:prstGeom prst="rect">
            <a:avLst/>
          </a:prstGeom>
          <a:solidFill>
            <a:srgbClr val="F5F6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2980944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</a:rPr>
              <a:t>アプリDL不要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0" y="2889504"/>
            <a:ext cx="1554480" cy="448056"/>
          </a:xfrm>
          <a:prstGeom prst="rect">
            <a:avLst/>
          </a:prstGeom>
          <a:solidFill>
            <a:srgbClr val="E8F8EE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0" y="2980944"/>
            <a:ext cx="1554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49A40"/>
                </a:solidFill>
              </a:rPr>
              <a:t>○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7680" y="2889504"/>
            <a:ext cx="1463040" cy="448056"/>
          </a:xfrm>
          <a:prstGeom prst="rect">
            <a:avLst/>
          </a:prstGeom>
          <a:solidFill>
            <a:srgbClr val="F5F6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97680" y="2980944"/>
            <a:ext cx="14630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3E3E"/>
                </a:solidFill>
              </a:rPr>
              <a:t>×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60720" y="2889504"/>
            <a:ext cx="1508760" cy="448056"/>
          </a:xfrm>
          <a:prstGeom prst="rect">
            <a:avLst/>
          </a:prstGeom>
          <a:solidFill>
            <a:srgbClr val="F5F6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760720" y="2980944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3E3E"/>
                </a:solidFill>
              </a:rPr>
              <a:t>×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269480" y="2889504"/>
            <a:ext cx="1508760" cy="448056"/>
          </a:xfrm>
          <a:prstGeom prst="rect">
            <a:avLst/>
          </a:prstGeom>
          <a:solidFill>
            <a:srgbClr val="F5F6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269480" y="2980944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3E3E"/>
                </a:solidFill>
              </a:rPr>
              <a:t>×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778240" y="2889504"/>
            <a:ext cx="1508760" cy="448056"/>
          </a:xfrm>
          <a:prstGeom prst="rect">
            <a:avLst/>
          </a:prstGeom>
          <a:solidFill>
            <a:srgbClr val="F5F6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778240" y="2980944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3E3E"/>
                </a:solidFill>
              </a:rPr>
              <a:t>×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287000" y="2889504"/>
            <a:ext cx="1417320" cy="448056"/>
          </a:xfrm>
          <a:prstGeom prst="rect">
            <a:avLst/>
          </a:prstGeom>
          <a:solidFill>
            <a:srgbClr val="F5F6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287000" y="2980944"/>
            <a:ext cx="1417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49A40"/>
                </a:solidFill>
              </a:rPr>
              <a:t>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3337560"/>
            <a:ext cx="228600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3429000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</a:rPr>
              <a:t>コンディション報告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0" y="3337560"/>
            <a:ext cx="1554480" cy="448056"/>
          </a:xfrm>
          <a:prstGeom prst="rect">
            <a:avLst/>
          </a:prstGeom>
          <a:solidFill>
            <a:srgbClr val="E8F8EE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43200" y="3429000"/>
            <a:ext cx="1554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49A40"/>
                </a:solidFill>
              </a:rPr>
              <a:t>○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97680" y="3337560"/>
            <a:ext cx="14630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97680" y="3429000"/>
            <a:ext cx="14630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3E3E"/>
                </a:solidFill>
              </a:rPr>
              <a:t>×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760720" y="3337560"/>
            <a:ext cx="150876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760720" y="3429000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3E3E"/>
                </a:solidFill>
              </a:rPr>
              <a:t>×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69480" y="3337560"/>
            <a:ext cx="150876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69480" y="3429000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3E3E"/>
                </a:solidFill>
              </a:rPr>
              <a:t>×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778240" y="3337560"/>
            <a:ext cx="150876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778240" y="3429000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3E3E"/>
                </a:solidFill>
              </a:rPr>
              <a:t>×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287000" y="3337560"/>
            <a:ext cx="141732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287000" y="3429000"/>
            <a:ext cx="1417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3E3E"/>
                </a:solidFill>
              </a:rPr>
              <a:t>×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3785615"/>
            <a:ext cx="2286000" cy="448056"/>
          </a:xfrm>
          <a:prstGeom prst="rect">
            <a:avLst/>
          </a:prstGeom>
          <a:solidFill>
            <a:srgbClr val="F5F6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57200" y="3877055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</a:rPr>
              <a:t>離職予兆アラート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743200" y="3785615"/>
            <a:ext cx="1554480" cy="448056"/>
          </a:xfrm>
          <a:prstGeom prst="rect">
            <a:avLst/>
          </a:prstGeom>
          <a:solidFill>
            <a:srgbClr val="E8F8EE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743200" y="3877055"/>
            <a:ext cx="1554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49A40"/>
                </a:solidFill>
              </a:rPr>
              <a:t>○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297680" y="3785615"/>
            <a:ext cx="1463040" cy="448056"/>
          </a:xfrm>
          <a:prstGeom prst="rect">
            <a:avLst/>
          </a:prstGeom>
          <a:solidFill>
            <a:srgbClr val="F5F6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297680" y="3877055"/>
            <a:ext cx="14630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3E3E"/>
                </a:solidFill>
              </a:rPr>
              <a:t>×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760720" y="3785615"/>
            <a:ext cx="1508760" cy="448056"/>
          </a:xfrm>
          <a:prstGeom prst="rect">
            <a:avLst/>
          </a:prstGeom>
          <a:solidFill>
            <a:srgbClr val="F5F6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760720" y="3877055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3E3E"/>
                </a:solidFill>
              </a:rPr>
              <a:t>×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269480" y="3785615"/>
            <a:ext cx="1508760" cy="448056"/>
          </a:xfrm>
          <a:prstGeom prst="rect">
            <a:avLst/>
          </a:prstGeom>
          <a:solidFill>
            <a:srgbClr val="F5F6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269480" y="3877055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3E3E"/>
                </a:solidFill>
              </a:rPr>
              <a:t>×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778240" y="3785615"/>
            <a:ext cx="1508760" cy="448056"/>
          </a:xfrm>
          <a:prstGeom prst="rect">
            <a:avLst/>
          </a:prstGeom>
          <a:solidFill>
            <a:srgbClr val="F5F6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778240" y="3877055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3E3E"/>
                </a:solidFill>
              </a:rPr>
              <a:t>×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287000" y="3785615"/>
            <a:ext cx="1417320" cy="448056"/>
          </a:xfrm>
          <a:prstGeom prst="rect">
            <a:avLst/>
          </a:prstGeom>
          <a:solidFill>
            <a:srgbClr val="F5F6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287000" y="3877055"/>
            <a:ext cx="1417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3E3E"/>
                </a:solidFill>
              </a:rPr>
              <a:t>×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" y="4233672"/>
            <a:ext cx="228600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57200" y="4325112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</a:rPr>
              <a:t>即日導入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743200" y="4233672"/>
            <a:ext cx="1554480" cy="448056"/>
          </a:xfrm>
          <a:prstGeom prst="rect">
            <a:avLst/>
          </a:prstGeom>
          <a:solidFill>
            <a:srgbClr val="E8F8EE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743200" y="4325112"/>
            <a:ext cx="1554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49A40"/>
                </a:solidFill>
              </a:rPr>
              <a:t>○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297680" y="4233672"/>
            <a:ext cx="14630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297680" y="4325112"/>
            <a:ext cx="14630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6B35"/>
                </a:solidFill>
              </a:rPr>
              <a:t>△(数日)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760720" y="4233672"/>
            <a:ext cx="150876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760720" y="4325112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6B35"/>
                </a:solidFill>
              </a:rPr>
              <a:t>△(数日)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269480" y="4233672"/>
            <a:ext cx="150876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269480" y="4325112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6B35"/>
                </a:solidFill>
              </a:rPr>
              <a:t>△(数日)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778240" y="4233672"/>
            <a:ext cx="150876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778240" y="4325112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6B35"/>
                </a:solidFill>
              </a:rPr>
              <a:t>△(数日)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287000" y="4233672"/>
            <a:ext cx="141732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287000" y="4325112"/>
            <a:ext cx="1417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49A40"/>
                </a:solidFill>
              </a:rPr>
              <a:t>○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200" y="4681728"/>
            <a:ext cx="2286000" cy="448056"/>
          </a:xfrm>
          <a:prstGeom prst="rect">
            <a:avLst/>
          </a:prstGeom>
          <a:solidFill>
            <a:srgbClr val="F5F6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57200" y="4773168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</a:rPr>
              <a:t>GPS打刻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743200" y="4681728"/>
            <a:ext cx="1554480" cy="448056"/>
          </a:xfrm>
          <a:prstGeom prst="rect">
            <a:avLst/>
          </a:prstGeom>
          <a:solidFill>
            <a:srgbClr val="E8F8EE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743200" y="4773168"/>
            <a:ext cx="1554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49A40"/>
                </a:solidFill>
              </a:rPr>
              <a:t>○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297680" y="4681728"/>
            <a:ext cx="1463040" cy="448056"/>
          </a:xfrm>
          <a:prstGeom prst="rect">
            <a:avLst/>
          </a:prstGeom>
          <a:solidFill>
            <a:srgbClr val="F5F6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297680" y="4773168"/>
            <a:ext cx="14630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49A40"/>
                </a:solidFill>
              </a:rPr>
              <a:t>○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760720" y="4681728"/>
            <a:ext cx="1508760" cy="448056"/>
          </a:xfrm>
          <a:prstGeom prst="rect">
            <a:avLst/>
          </a:prstGeom>
          <a:solidFill>
            <a:srgbClr val="F5F6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760720" y="4773168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49A40"/>
                </a:solidFill>
              </a:rPr>
              <a:t>○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269480" y="4681728"/>
            <a:ext cx="1508760" cy="448056"/>
          </a:xfrm>
          <a:prstGeom prst="rect">
            <a:avLst/>
          </a:prstGeom>
          <a:solidFill>
            <a:srgbClr val="F5F6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269480" y="4773168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49A40"/>
                </a:solidFill>
              </a:rPr>
              <a:t>○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778240" y="4681728"/>
            <a:ext cx="1508760" cy="448056"/>
          </a:xfrm>
          <a:prstGeom prst="rect">
            <a:avLst/>
          </a:prstGeom>
          <a:solidFill>
            <a:srgbClr val="F5F6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778240" y="4773168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49A40"/>
                </a:solidFill>
              </a:rPr>
              <a:t>○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287000" y="4681728"/>
            <a:ext cx="1417320" cy="448056"/>
          </a:xfrm>
          <a:prstGeom prst="rect">
            <a:avLst/>
          </a:prstGeom>
          <a:solidFill>
            <a:srgbClr val="F5F6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287000" y="4773168"/>
            <a:ext cx="1417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3E3E"/>
                </a:solidFill>
              </a:rPr>
              <a:t>×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57200" y="5129784"/>
            <a:ext cx="228600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57200" y="5221224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</a:rPr>
              <a:t>CSV出力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743200" y="5129784"/>
            <a:ext cx="1554480" cy="448056"/>
          </a:xfrm>
          <a:prstGeom prst="rect">
            <a:avLst/>
          </a:prstGeom>
          <a:solidFill>
            <a:srgbClr val="E8F8EE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743200" y="5221224"/>
            <a:ext cx="1554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49A40"/>
                </a:solidFill>
              </a:rPr>
              <a:t>○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297680" y="5129784"/>
            <a:ext cx="14630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297680" y="5221224"/>
            <a:ext cx="14630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49A40"/>
                </a:solidFill>
              </a:rPr>
              <a:t>○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760720" y="5129784"/>
            <a:ext cx="150876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760720" y="5221224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49A40"/>
                </a:solidFill>
              </a:rPr>
              <a:t>○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269480" y="5129784"/>
            <a:ext cx="150876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269480" y="5221224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49A40"/>
                </a:solidFill>
              </a:rPr>
              <a:t>○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778240" y="5129784"/>
            <a:ext cx="150876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778240" y="5221224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49A40"/>
                </a:solidFill>
              </a:rPr>
              <a:t>○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287000" y="5129784"/>
            <a:ext cx="141732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0287000" y="5221224"/>
            <a:ext cx="1417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3E3E"/>
                </a:solidFill>
              </a:rPr>
              <a:t>×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57200" y="5577840"/>
            <a:ext cx="2286000" cy="448056"/>
          </a:xfrm>
          <a:prstGeom prst="rect">
            <a:avLst/>
          </a:prstGeom>
          <a:solidFill>
            <a:srgbClr val="F5F6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57200" y="5669280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</a:rPr>
              <a:t>派遣業界特化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743200" y="5577840"/>
            <a:ext cx="1554480" cy="448056"/>
          </a:xfrm>
          <a:prstGeom prst="rect">
            <a:avLst/>
          </a:prstGeom>
          <a:solidFill>
            <a:srgbClr val="E8F8EE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743200" y="5669280"/>
            <a:ext cx="1554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49A40"/>
                </a:solidFill>
              </a:rPr>
              <a:t>○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297680" y="5577840"/>
            <a:ext cx="1463040" cy="448056"/>
          </a:xfrm>
          <a:prstGeom prst="rect">
            <a:avLst/>
          </a:prstGeom>
          <a:solidFill>
            <a:srgbClr val="F5F6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297680" y="5669280"/>
            <a:ext cx="14630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3E3E"/>
                </a:solidFill>
              </a:rPr>
              <a:t>×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760720" y="5577840"/>
            <a:ext cx="1508760" cy="448056"/>
          </a:xfrm>
          <a:prstGeom prst="rect">
            <a:avLst/>
          </a:prstGeom>
          <a:solidFill>
            <a:srgbClr val="F5F6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760720" y="5669280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3E3E"/>
                </a:solidFill>
              </a:rPr>
              <a:t>×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269480" y="5577840"/>
            <a:ext cx="1508760" cy="448056"/>
          </a:xfrm>
          <a:prstGeom prst="rect">
            <a:avLst/>
          </a:prstGeom>
          <a:solidFill>
            <a:srgbClr val="F5F6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269480" y="5669280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3E3E"/>
                </a:solidFill>
              </a:rPr>
              <a:t>×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778240" y="5577840"/>
            <a:ext cx="1508760" cy="448056"/>
          </a:xfrm>
          <a:prstGeom prst="rect">
            <a:avLst/>
          </a:prstGeom>
          <a:solidFill>
            <a:srgbClr val="F5F6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778240" y="5669280"/>
            <a:ext cx="1508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3E3E"/>
                </a:solidFill>
              </a:rPr>
              <a:t>×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0287000" y="5577840"/>
            <a:ext cx="1417320" cy="448056"/>
          </a:xfrm>
          <a:prstGeom prst="rect">
            <a:avLst/>
          </a:prstGeom>
          <a:solidFill>
            <a:srgbClr val="F5F6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0287000" y="5669280"/>
            <a:ext cx="1417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3E3E"/>
                </a:solidFill>
              </a:rPr>
              <a:t>×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8D"/>
                </a:solidFill>
              </a:rPr>
              <a:t>※ 価格は2026年5月時点の公式情報より。プランにより変動。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</a:rPr>
              <a:t>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差別化ポイント①  コンディション報告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業界唯一の離職予兆検知機能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</a:rPr>
              <a:t>なぜ重要か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4864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</a:pPr>
            <a:r>
              <a:rPr sz="1300" b="0">
                <a:solidFill>
                  <a:srgbClr val="1A1A1A"/>
                </a:solidFill>
              </a:rPr>
              <a:t>■ 派遣スタッフの離職は「突然」起きる</a:t>
            </a:r>
          </a:p>
          <a:p>
            <a:pPr algn="l">
              <a:spcAft>
                <a:spcPts val="390"/>
              </a:spcAft>
            </a:pPr>
            <a:r>
              <a:rPr sz="1300" b="0">
                <a:solidFill>
                  <a:srgbClr val="1A1A1A"/>
                </a:solidFill>
              </a:rPr>
              <a:t>  体調不良・モチベ低下のサインに、</a:t>
            </a:r>
          </a:p>
          <a:p>
            <a:pPr algn="l">
              <a:spcAft>
                <a:spcPts val="390"/>
              </a:spcAft>
            </a:pPr>
            <a:r>
              <a:rPr sz="1300" b="0">
                <a:solidFill>
                  <a:srgbClr val="1A1A1A"/>
                </a:solidFill>
              </a:rPr>
              <a:t>  管理者が気づけないまま辞めていく。</a:t>
            </a:r>
          </a:p>
          <a:p>
            <a:pPr algn="l">
              <a:spcAft>
                <a:spcPts val="390"/>
              </a:spcAft>
            </a:pPr>
            <a:r>
              <a:rPr sz="1300" b="0">
                <a:solidFill>
                  <a:srgbClr val="1A1A1A"/>
                </a:solidFill>
              </a:rPr>
              <a:t/>
            </a:r>
          </a:p>
          <a:p>
            <a:pPr algn="l">
              <a:spcAft>
                <a:spcPts val="390"/>
              </a:spcAft>
            </a:pPr>
            <a:r>
              <a:rPr sz="1300" b="0">
                <a:solidFill>
                  <a:srgbClr val="1A1A1A"/>
                </a:solidFill>
              </a:rPr>
              <a:t>■ 1人辞めると、採用コスト10〜30万円が消える</a:t>
            </a:r>
          </a:p>
          <a:p>
            <a:pPr algn="l">
              <a:spcAft>
                <a:spcPts val="390"/>
              </a:spcAft>
            </a:pPr>
            <a:r>
              <a:rPr sz="1300" b="0">
                <a:solidFill>
                  <a:srgbClr val="1A1A1A"/>
                </a:solidFill>
              </a:rPr>
              <a:t>  再募集・面談・研修すべてやり直し。</a:t>
            </a:r>
          </a:p>
          <a:p>
            <a:pPr algn="l">
              <a:spcAft>
                <a:spcPts val="390"/>
              </a:spcAft>
            </a:pPr>
            <a:r>
              <a:rPr sz="1300" b="0">
                <a:solidFill>
                  <a:srgbClr val="1A1A1A"/>
                </a:solidFill>
              </a:rPr>
              <a:t/>
            </a:r>
          </a:p>
          <a:p>
            <a:pPr algn="l">
              <a:spcAft>
                <a:spcPts val="390"/>
              </a:spcAft>
            </a:pPr>
            <a:r>
              <a:rPr sz="1300" b="0">
                <a:solidFill>
                  <a:srgbClr val="1A1A1A"/>
                </a:solidFill>
              </a:rPr>
              <a:t>■ 既存ツールでは「打刻」しか取れない</a:t>
            </a:r>
          </a:p>
          <a:p>
            <a:pPr algn="l">
              <a:spcAft>
                <a:spcPts val="390"/>
              </a:spcAft>
            </a:pPr>
            <a:r>
              <a:rPr sz="1300" b="0">
                <a:solidFill>
                  <a:srgbClr val="1A1A1A"/>
                </a:solidFill>
              </a:rPr>
              <a:t>  KING OF TIMEもジョブカンも、</a:t>
            </a:r>
          </a:p>
          <a:p>
            <a:pPr algn="l">
              <a:spcAft>
                <a:spcPts val="390"/>
              </a:spcAft>
            </a:pPr>
            <a:r>
              <a:rPr sz="1300" b="0">
                <a:solidFill>
                  <a:srgbClr val="1A1A1A"/>
                </a:solidFill>
              </a:rPr>
              <a:t>  時刻データの集計しかできない。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51560"/>
            <a:ext cx="5303520" cy="5212080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</a:rPr>
              <a:t>ラクラク勤怠の解決策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691640"/>
            <a:ext cx="548640" cy="36576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1965960"/>
            <a:ext cx="457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9842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</a:rPr>
              <a:t>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02996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49A40"/>
                </a:solidFill>
              </a:rPr>
              <a:t>絶好調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377440"/>
            <a:ext cx="457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395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</a:rPr>
              <a:t>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4414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49A40"/>
                </a:solidFill>
              </a:rPr>
              <a:t>良い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788920"/>
            <a:ext cx="457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</a:rPr>
              <a:t>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85292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</a:rPr>
              <a:t>普通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3200400"/>
            <a:ext cx="457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2186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</a:rPr>
              <a:t>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2644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</a:rPr>
              <a:t>疲れ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3246120"/>
            <a:ext cx="2834640" cy="274320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27355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→ 管理者アラート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3611880"/>
            <a:ext cx="457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630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</a:rPr>
              <a:t>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6758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3E3E"/>
                </a:solidFill>
              </a:rPr>
              <a:t>しんどい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3657600"/>
            <a:ext cx="2834640" cy="274320"/>
          </a:xfrm>
          <a:prstGeom prst="roundRect">
            <a:avLst>
              <a:gd name="adj" fmla="val 8000"/>
            </a:avLst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36850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→ 管理者アラート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</a:rPr>
              <a:t>毎日5秒・絵文字1タップで完結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4709160"/>
            <a:ext cx="493776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8920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</a:pPr>
            <a:r>
              <a:rPr sz="1100" b="0">
                <a:solidFill>
                  <a:srgbClr val="1A1A1A"/>
                </a:solidFill>
              </a:rPr>
              <a:t>■ 「疲れ」「しんどい」が出たら即フォロー</a:t>
            </a:r>
          </a:p>
          <a:p>
            <a:pPr algn="l">
              <a:spcAft>
                <a:spcPts val="330"/>
              </a:spcAft>
            </a:pPr>
            <a:r>
              <a:rPr sz="1100" b="0">
                <a:solidFill>
                  <a:srgbClr val="1A1A1A"/>
                </a:solidFill>
              </a:rPr>
              <a:t>■ 体調・モチベの推移をグラフで可視化</a:t>
            </a:r>
          </a:p>
          <a:p>
            <a:pPr algn="l">
              <a:spcAft>
                <a:spcPts val="330"/>
              </a:spcAft>
            </a:pPr>
            <a:r>
              <a:rPr sz="1100" b="0">
                <a:solidFill>
                  <a:srgbClr val="1A1A1A"/>
                </a:solidFill>
              </a:rPr>
              <a:t>■ スタッフ「気にかけてもらえる」実感UP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ラクラク勤怠  |  競合比較・差別化資料  |  小原 健太  080-9895-7770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</a:rPr>
              <a:t>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差別化ポイント②  LINEで完結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アプリDL不要、ID/パスワード不要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B7B8D"/>
                </a:solidFill>
              </a:rPr>
              <a:t>他社の常識：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303520" cy="9144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6"/>
              </a:spcAft>
            </a:pPr>
            <a:r>
              <a:rPr sz="1200" b="0">
                <a:solidFill>
                  <a:srgbClr val="E53E3E"/>
                </a:solidFill>
              </a:rPr>
              <a:t>❌ 専用アプリのダウンロードが必要</a:t>
            </a:r>
          </a:p>
          <a:p>
            <a:pPr algn="l">
              <a:spcAft>
                <a:spcPts val="216"/>
              </a:spcAft>
            </a:pPr>
            <a:r>
              <a:rPr sz="1200" b="0">
                <a:solidFill>
                  <a:srgbClr val="E53E3E"/>
                </a:solidFill>
              </a:rPr>
              <a:t>❌ ID・パスワードの登録・管理</a:t>
            </a:r>
          </a:p>
          <a:p>
            <a:pPr algn="l">
              <a:spcAft>
                <a:spcPts val="216"/>
              </a:spcAft>
            </a:pPr>
            <a:r>
              <a:rPr sz="1200" b="0">
                <a:solidFill>
                  <a:srgbClr val="E53E3E"/>
                </a:solidFill>
              </a:rPr>
              <a:t>❌ 機種変更時の再ログイン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26080"/>
            <a:ext cx="5303520" cy="9144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6"/>
              </a:spcAft>
            </a:pPr>
            <a:r>
              <a:rPr sz="1200" b="0">
                <a:solidFill>
                  <a:srgbClr val="E53E3E"/>
                </a:solidFill>
              </a:rPr>
              <a:t>❌ スタッフ「使い方分からない」連絡が頻発</a:t>
            </a:r>
          </a:p>
          <a:p>
            <a:pPr algn="l">
              <a:spcAft>
                <a:spcPts val="216"/>
              </a:spcAft>
            </a:pPr>
            <a:r>
              <a:rPr sz="1200" b="0">
                <a:solidFill>
                  <a:srgbClr val="E53E3E"/>
                </a:solidFill>
              </a:rPr>
              <a:t>❌ 60代スタッフが脱落</a:t>
            </a:r>
          </a:p>
          <a:p>
            <a:pPr algn="l">
              <a:spcAft>
                <a:spcPts val="216"/>
              </a:spcAft>
            </a:pPr>
            <a:r>
              <a:rPr sz="1200" b="0">
                <a:solidFill>
                  <a:srgbClr val="E53E3E"/>
                </a:solidFill>
              </a:rPr>
              <a:t>❌ 結局、紙のタイムカードが残る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9A40"/>
                </a:solidFill>
              </a:rPr>
              <a:t>ラクラク勤怠：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5303520" cy="91440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9659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6"/>
              </a:spcAft>
            </a:pPr>
            <a:r>
              <a:rPr sz="1200" b="0">
                <a:solidFill>
                  <a:srgbClr val="049A40"/>
                </a:solidFill>
              </a:rPr>
              <a:t>○ LINEを開いて「出勤」をタップするだけ</a:t>
            </a:r>
          </a:p>
          <a:p>
            <a:pPr algn="l">
              <a:spcAft>
                <a:spcPts val="216"/>
              </a:spcAft>
            </a:pPr>
            <a:r>
              <a:rPr sz="1200" b="0">
                <a:solidFill>
                  <a:srgbClr val="049A40"/>
                </a:solidFill>
              </a:rPr>
              <a:t>○ 友だち追加だけで利用開始</a:t>
            </a:r>
          </a:p>
          <a:p>
            <a:pPr algn="l">
              <a:spcAft>
                <a:spcPts val="216"/>
              </a:spcAft>
            </a:pPr>
            <a:r>
              <a:rPr sz="1200" b="0">
                <a:solidFill>
                  <a:srgbClr val="049A40"/>
                </a:solidFill>
              </a:rPr>
              <a:t>○ パスワード忘れる心配ゼロ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926080"/>
            <a:ext cx="5303520" cy="91440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632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6"/>
              </a:spcAft>
            </a:pPr>
            <a:r>
              <a:rPr sz="1200" b="0">
                <a:solidFill>
                  <a:srgbClr val="049A40"/>
                </a:solidFill>
              </a:rPr>
              <a:t>○ 60代以上でも当日から使える</a:t>
            </a:r>
          </a:p>
          <a:p>
            <a:pPr algn="l">
              <a:spcAft>
                <a:spcPts val="216"/>
              </a:spcAft>
            </a:pPr>
            <a:r>
              <a:rPr sz="1200" b="0">
                <a:solidFill>
                  <a:srgbClr val="049A40"/>
                </a:solidFill>
              </a:rPr>
              <a:t>○ 機種変更してもLINE引き継ぎでそのまま</a:t>
            </a:r>
          </a:p>
          <a:p>
            <a:pPr algn="l">
              <a:spcAft>
                <a:spcPts val="216"/>
              </a:spcAft>
            </a:pPr>
            <a:r>
              <a:rPr sz="1200" b="0">
                <a:solidFill>
                  <a:srgbClr val="049A40"/>
                </a:solidFill>
              </a:rPr>
              <a:t>○ スタッフ「これなら使える」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14800"/>
            <a:ext cx="11091672" cy="210312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</a:rPr>
              <a:t>数字で見る差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846320"/>
            <a:ext cx="24688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937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B8D"/>
                </a:solidFill>
              </a:rPr>
              <a:t>LINE利用率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66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6C755"/>
                </a:solidFill>
              </a:rPr>
              <a:t>95%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15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F3A5F"/>
                </a:solidFill>
              </a:rPr>
              <a:t>日本人の95%が日常利用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4846320"/>
            <a:ext cx="24688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4937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B8D"/>
                </a:solidFill>
              </a:rPr>
              <a:t>アプリDL離脱率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5166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6C755"/>
                </a:solidFill>
              </a:rPr>
              <a:t>70%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5715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F3A5F"/>
                </a:solidFill>
              </a:rPr>
              <a:t>1ステップで7割が脱落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4846320"/>
            <a:ext cx="24688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4937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B8D"/>
                </a:solidFill>
              </a:rPr>
              <a:t>シニア層対応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5166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6C755"/>
                </a:solidFill>
              </a:rPr>
              <a:t>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715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F3A5F"/>
                </a:solidFill>
              </a:rPr>
              <a:t>60-70代でも使える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32520" y="4846320"/>
            <a:ext cx="24688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32520" y="4937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B8D"/>
                </a:solidFill>
              </a:rPr>
              <a:t>導入時間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5166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6C755"/>
                </a:solidFill>
              </a:rPr>
              <a:t>5分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5715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F3A5F"/>
                </a:solidFill>
              </a:rPr>
              <a:t>QR読むだけで完了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ラクラク勤怠  |  競合比較・差別化資料  |  小原 健太  080-9895-7770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</a:rPr>
              <a:t>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差別化ポイント③  圧倒的に安い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中小派遣会社が無理なく払える価格設計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</a:rPr>
              <a:t>1人あたり月額の比較（スタッフ100名で試算）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9144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F3A5F"/>
                </a:solidFill>
              </a:rPr>
              <a:t>ラクラク勤怠 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828800"/>
            <a:ext cx="3429000" cy="457200"/>
          </a:xfrm>
          <a:prstGeom prst="roundRect">
            <a:avLst>
              <a:gd name="adj" fmla="val 20000"/>
            </a:avLst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920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C755"/>
                </a:solidFill>
              </a:rPr>
              <a:t>200円/人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920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</a:rPr>
              <a:t>月額 20,000円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60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F3A5F"/>
                </a:solidFill>
              </a:rPr>
              <a:t>マネーフォワード勤怠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2468880"/>
            <a:ext cx="5143500" cy="457200"/>
          </a:xfrm>
          <a:prstGeom prst="roundRect">
            <a:avLst>
              <a:gd name="adj" fmla="val 20000"/>
            </a:avLst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1060" y="25603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B8D"/>
                </a:solidFill>
              </a:rPr>
              <a:t>300円/人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5500" y="2560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</a:rPr>
              <a:t>月額 30,000円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004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F3A5F"/>
                </a:solidFill>
              </a:rPr>
              <a:t>freee人事労務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3108960"/>
            <a:ext cx="5143500" cy="457200"/>
          </a:xfrm>
          <a:prstGeom prst="roundRect">
            <a:avLst>
              <a:gd name="adj" fmla="val 20000"/>
            </a:avLst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1060" y="32004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B8D"/>
                </a:solidFill>
              </a:rPr>
              <a:t>300円/人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5500" y="3200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</a:rPr>
              <a:t>月額 30,000円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84047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F3A5F"/>
                </a:solidFill>
              </a:rPr>
              <a:t>タッチオンタイム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3749039"/>
            <a:ext cx="5143500" cy="457200"/>
          </a:xfrm>
          <a:prstGeom prst="roundRect">
            <a:avLst>
              <a:gd name="adj" fmla="val 20000"/>
            </a:avLst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81060" y="384047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B8D"/>
                </a:solidFill>
              </a:rPr>
              <a:t>300円/人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5500" y="3840479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</a:rPr>
              <a:t>月額 30,000円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48055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F3A5F"/>
                </a:solidFill>
              </a:rPr>
              <a:t>KING OF TIME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4389120"/>
            <a:ext cx="5657850" cy="45720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95410" y="448055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</a:rPr>
              <a:t>330円/人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9850" y="4480559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</a:rPr>
              <a:t>月額 33,000円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120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F3A5F"/>
                </a:solidFill>
              </a:rPr>
              <a:t>ジョブカン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5029200"/>
            <a:ext cx="6858000" cy="457200"/>
          </a:xfrm>
          <a:prstGeom prst="roundRect">
            <a:avLst>
              <a:gd name="adj" fmla="val 20000"/>
            </a:avLst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5560" y="5120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3E3E"/>
                </a:solidFill>
              </a:rPr>
              <a:t>400円/人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5120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</a:rPr>
              <a:t>月額 40,000円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52160"/>
            <a:ext cx="11091672" cy="640080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9893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49A40"/>
                </a:solidFill>
              </a:rPr>
              <a:t>→ KING OF TIME比 月13,000円・年156,000円の削減  /  ジョブカン比 月20,000円・年24万円の削減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ラクラク勤怠  |  競合比較・差別化資料  |  小原 健太  080-9895-7770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</a:rPr>
              <a:t> 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差別化ポイント④  当日から使える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30分セットアップで即運用開始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7B8D"/>
                </a:solidFill>
              </a:rPr>
              <a:t>他社の導入フロー（数日〜数週間）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B8D"/>
                </a:solidFill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B8D"/>
                </a:solidFill>
              </a:rPr>
              <a:t>問合せ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600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B8D"/>
                </a:solidFill>
              </a:rPr>
              <a:t>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1508760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15544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B8D"/>
                </a:solidFill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1783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B8D"/>
                </a:solidFill>
              </a:rPr>
              <a:t>ヒアリング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600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B8D"/>
                </a:solidFill>
              </a:rPr>
              <a:t>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1508760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15544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B8D"/>
                </a:solidFill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1783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B8D"/>
                </a:solidFill>
              </a:rPr>
              <a:t>見積もり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600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B8D"/>
                </a:solidFill>
              </a:rPr>
              <a:t>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49240" y="1508760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15544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B8D"/>
                </a:solidFill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1783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B8D"/>
                </a:solidFill>
              </a:rPr>
              <a:t>契約書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600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B8D"/>
                </a:solidFill>
              </a:rPr>
              <a:t>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0" y="1508760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15544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B8D"/>
                </a:solidFill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1783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B8D"/>
                </a:solidFill>
              </a:rPr>
              <a:t>初期設定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1600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B8D"/>
                </a:solidFill>
              </a:rPr>
              <a:t>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49640" y="1508760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15544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B8D"/>
                </a:solidFill>
              </a:rPr>
              <a:t>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1783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B8D"/>
                </a:solidFill>
              </a:rPr>
              <a:t>研修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19" y="1600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B8D"/>
                </a:solidFill>
              </a:rPr>
              <a:t>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49840" y="1508760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9840" y="15544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B8D"/>
                </a:solidFill>
              </a:rPr>
              <a:t>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17830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B8D"/>
                </a:solidFill>
              </a:rPr>
              <a:t>運用開始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3E3E"/>
                </a:solidFill>
              </a:rPr>
              <a:t>営業日 5〜30日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108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49A40"/>
                </a:solidFill>
              </a:rPr>
              <a:t>ラクラク勤怠の導入フロー（合計30分）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6118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85800" y="370332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8130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3703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管理者登録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3040" y="40233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49A40"/>
                </a:solidFill>
              </a:rPr>
              <a:t>5分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7520" y="3840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6C755"/>
                </a:solidFill>
              </a:rPr>
              <a:t>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83280" y="36118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520440" y="370332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0440" y="38130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0" y="3703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QR共有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97680" y="40233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49A40"/>
                </a:solidFill>
              </a:rPr>
              <a:t>5分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60" y="3840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6C755"/>
                </a:solidFill>
              </a:rPr>
              <a:t>▸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36118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355080" y="370332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38130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3703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スタッフ登録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0" y="40233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49A40"/>
                </a:solidFill>
              </a:rPr>
              <a:t>5分/人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3840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6C755"/>
                </a:solidFill>
              </a:rPr>
              <a:t>▸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52560" y="36118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189720" y="370332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89720" y="38130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66960" y="3703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運用開始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66960" y="40233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49A40"/>
                </a:solidFill>
              </a:rPr>
              <a:t>即時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484632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" y="4983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</a:rPr>
              <a:t>理由：余計な手続きをすべて省いた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240" y="5349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3"/>
              </a:spcAft>
            </a:pPr>
            <a:r>
              <a:rPr sz="1100" b="0">
                <a:solidFill>
                  <a:srgbClr val="FFFFFF"/>
                </a:solidFill>
              </a:rPr>
              <a:t>■ 機器購入なし（既存スマホ・PCで完結）</a:t>
            </a:r>
          </a:p>
          <a:p>
            <a:pPr algn="l">
              <a:spcAft>
                <a:spcPts val="263"/>
              </a:spcAft>
            </a:pPr>
            <a:r>
              <a:rPr sz="1100" b="0">
                <a:solidFill>
                  <a:srgbClr val="FFFFFF"/>
                </a:solidFill>
              </a:rPr>
              <a:t>■ 専用アカウント不要（LINEを使うだけ）</a:t>
            </a:r>
          </a:p>
          <a:p>
            <a:pPr algn="l">
              <a:spcAft>
                <a:spcPts val="263"/>
              </a:spcAft>
            </a:pPr>
            <a:r>
              <a:rPr sz="1100" b="0">
                <a:solidFill>
                  <a:srgbClr val="FFFFFF"/>
                </a:solidFill>
              </a:rPr>
              <a:t>■ 訪問・研修なし（マニュアル1枚で済む）</a:t>
            </a:r>
          </a:p>
          <a:p>
            <a:pPr algn="l">
              <a:spcAft>
                <a:spcPts val="263"/>
              </a:spcAft>
            </a:pPr>
            <a:r>
              <a:rPr sz="1100" b="0">
                <a:solidFill>
                  <a:srgbClr val="FFFFFF"/>
                </a:solidFill>
              </a:rPr>
              <a:t>■ 紙の契約書なし（オンライン完結）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432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ラクラク勤怠  |  競合比較・差別化資料  |  小原 健太  080-9895-7770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</a:rPr>
              <a:t>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詳細比較①  vs KING OF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業界最大手との位置づけ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86400" cy="534924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</a:rPr>
              <a:t>KING OF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</a:rPr>
              <a:t>ヒューマンテクノロジーズ（業界シェアNo.1）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965960"/>
            <a:ext cx="54864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強み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○ 機能の豊富さ（シフト・有給・残業など）</a:t>
            </a:r>
          </a:p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○ 大企業の導入実績</a:t>
            </a:r>
          </a:p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○ 給与ソフト連携が豊富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11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3E3E"/>
                </a:solidFill>
              </a:rPr>
              <a:t>弱み（派遣会社目線）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8620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× 月330円/人と高め</a:t>
            </a:r>
          </a:p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× 機能が多すぎて中小には過剰</a:t>
            </a:r>
          </a:p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× スタッフが専用アプリor打刻機を使う</a:t>
            </a:r>
          </a:p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× 派遣特化の機能はなし（離職予兆等）</a:t>
            </a:r>
          </a:p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× 設定が複雑、研修に数時間必要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051560"/>
            <a:ext cx="5486400" cy="5349240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49A40"/>
                </a:solidFill>
              </a:rPr>
              <a:t>ラクラク勤怠 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49A40"/>
                </a:solidFill>
              </a:rPr>
              <a:t>派遣業界に特化したLINE型勤怠SaaS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1965960"/>
            <a:ext cx="54864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49A40"/>
                </a:solidFill>
              </a:rPr>
              <a:t>強み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37744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○ 月150〜200円（KOT比 半額以下）</a:t>
            </a:r>
          </a:p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○ シンプル機能で迷わない</a:t>
            </a:r>
          </a:p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○ LINEだけで完結、機器・アプリ不要</a:t>
            </a:r>
          </a:p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○ コンディション報告で離職予兆を検知</a:t>
            </a:r>
          </a:p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○ 30分で導入完了、当日から使える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937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競合への明確な答え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2120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「機能が足りない」 → 中小派遣には十分</a:t>
            </a:r>
          </a:p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「実績が浅い」     → 月単位解約OK・無料試用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ラクラク勤怠  |  競合比較・差別化資料  |  小原 健太  080-9895-7770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</a:rPr>
              <a:t>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詳細比較②  vs ジョブカン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オールインワン勤怠との違い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86400" cy="534924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</a:rPr>
              <a:t>ジョブカン勤怠管理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</a:rPr>
              <a:t>DONUTS（シリーズ累計15万社）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965960"/>
            <a:ext cx="54864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強み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○ 給与・採用・経費とシリーズ連携</a:t>
            </a:r>
          </a:p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○ 機能が網羅的（残業・有給・シフトすべて）</a:t>
            </a:r>
          </a:p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○ TVCMで知名度が高い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11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3E3E"/>
                </a:solidFill>
              </a:rPr>
              <a:t>弱み（派遣会社目線）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8620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× 月200〜400円と幅広く、機能追加で高くなる</a:t>
            </a:r>
          </a:p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× 「機能が多すぎて何を選べばいいか分からない」</a:t>
            </a:r>
          </a:p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× 派遣業特有のニーズに合わない</a:t>
            </a:r>
          </a:p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× 設定画面が複雑、PCに張り付く時間必要</a:t>
            </a:r>
          </a:p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× スタッフ向け管理コスト（パスワード等）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051560"/>
            <a:ext cx="5486400" cy="5349240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49A40"/>
                </a:solidFill>
              </a:rPr>
              <a:t>ラクラク勤怠 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49A40"/>
                </a:solidFill>
              </a:rPr>
              <a:t>派遣会社の現場で必要なものだけに絞る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1965960"/>
            <a:ext cx="54864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49A40"/>
                </a:solidFill>
              </a:rPr>
              <a:t>強み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37744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○ 月150〜200円（ジョブカン上位機能比 半額）</a:t>
            </a:r>
          </a:p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○ 機能を3つに絞る：打刻 / コンディション / 出力</a:t>
            </a:r>
          </a:p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○ 派遣現場の「離職問題」を直接解決</a:t>
            </a:r>
          </a:p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○ 操作が単純、迷いようがない</a:t>
            </a:r>
          </a:p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○ スタッフ管理ゼロ（パスワード不要）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937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メッセージング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2120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ジョブカン = 「全部入りで給与まで」</a:t>
            </a:r>
          </a:p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ラクラク勤怠 = 「派遣の打刻と離職対策に集中」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ラクラク勤怠  |  競合比較・差別化資料  |  小原 健太  080-9895-7770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</a:rPr>
              <a:t>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正直に言う：競合が勝つ領域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ラクラク勤怠が向かないケース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</a:rPr>
              <a:t>全部やろうとして失敗するのが一番危険。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B8D"/>
                </a:solidFill>
              </a:rPr>
              <a:t>「ここはやらない」を明確にすることで、本当に強い領域を作っています。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53E3E"/>
                </a:solidFill>
              </a:rPr>
              <a:t>次のような会社にはラクラク勤怠は向きません：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11091672" cy="11887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651760"/>
            <a:ext cx="822960" cy="822960"/>
          </a:xfrm>
          <a:prstGeom prst="roundRect">
            <a:avLst>
              <a:gd name="adj" fmla="val 8000"/>
            </a:avLst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6148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63347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</a:rPr>
              <a:t>社員数500名以上の大企業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971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経理・人事の複雑な業務がある大企業は KING OF TIME や ジョブカンの方が機能要件を満たします。</a:t>
            </a:r>
          </a:p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ラクラク勤怠は中小派遣会社（社員5〜100名規模）に特化しています。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94760"/>
            <a:ext cx="11091672" cy="11887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977640"/>
            <a:ext cx="822960" cy="822960"/>
          </a:xfrm>
          <a:prstGeom prst="roundRect">
            <a:avLst>
              <a:gd name="adj" fmla="val 8000"/>
            </a:avLst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8736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95935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</a:rPr>
              <a:t>給与計算まで一気通貫で必要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2976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ラクラク勤怠は勤怠データの記録・出力までです。</a:t>
            </a:r>
          </a:p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給与計算が必要な場合は CSV を出力して既存ソフトに連携してください。</a:t>
            </a:r>
          </a:p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（freee・マネーフォワード等とのCSV互換あり）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20640"/>
            <a:ext cx="11091672" cy="11887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5303520"/>
            <a:ext cx="822960" cy="822960"/>
          </a:xfrm>
          <a:prstGeom prst="roundRect">
            <a:avLst>
              <a:gd name="adj" fmla="val 8000"/>
            </a:avLst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41324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285231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</a:rPr>
              <a:t>複雑なシフト・残業ルールがある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5623559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夜勤手当・深夜残業の自動計算・複数勤務形態の組み合わせは未対応。</a:t>
            </a:r>
          </a:p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単純な打刻管理＋スタッフのメンタルケアに振り切っています。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6400800"/>
            <a:ext cx="11091672" cy="36576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5A623"/>
                </a:solidFill>
              </a:rPr>
              <a:t>「派遣スタッフの離職を減らす」一点に集中。それ以外は素直に他社を勧めます。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</a:rPr>
              <a:t>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ベストフィット顧客像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ラクラク勤怠が圧倒的に効くのはこんな会社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</a:rPr>
              <a:t>次の条件に1つでも当てはまれば、必ず効果があります。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59" y="192024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075688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F3A5F"/>
                </a:solidFill>
              </a:rPr>
              <a:t>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</a:rPr>
              <a:t>中小派遣会社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19" y="2404872"/>
            <a:ext cx="457200" cy="36576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25603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社員5〜30名／登録スタッフ50〜300名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69164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17720" y="192024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075688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F3A5F"/>
                </a:solidFill>
              </a:rPr>
              <a:t>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</a:rPr>
              <a:t>紙タイムカード現役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2404872"/>
            <a:ext cx="457200" cy="36576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25603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集計に毎月数時間〜数日かかっている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69164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0" y="192024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075688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F3A5F"/>
                </a:solidFill>
              </a:rPr>
              <a:t>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</a:rPr>
              <a:t>離職率が高い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64040" y="2404872"/>
            <a:ext cx="457200" cy="36576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25603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登録スタッフの30%以上が1年以内離職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06908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59" y="429768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4453128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F3A5F"/>
                </a:solidFill>
              </a:rPr>
              <a:t>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4389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</a:rPr>
              <a:t>現場系を扱う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74519" y="4782312"/>
            <a:ext cx="457200" cy="36576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74519" y="49377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製造・物流・食品・軽作業など現場業種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406908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17720" y="429768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4453128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F3A5F"/>
                </a:solidFill>
              </a:rPr>
              <a:t>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389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</a:rPr>
              <a:t>スタッフがシニア多め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4782312"/>
            <a:ext cx="457200" cy="36576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0" y="49377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LINE以外のアプリが苦手な層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406908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412480" y="429768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4453128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F3A5F"/>
                </a:solidFill>
              </a:rPr>
              <a:t>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64040" y="4389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</a:rPr>
              <a:t>コストを抑えたい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64040" y="4782312"/>
            <a:ext cx="457200" cy="36576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64040" y="49377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3"/>
              </a:spcAft>
            </a:pPr>
            <a:r>
              <a:rPr sz="1100" b="0">
                <a:solidFill>
                  <a:srgbClr val="1A1A1A"/>
                </a:solidFill>
              </a:rPr>
              <a:t>1人月300円超は払えない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ラクラク勤怠  |  競合比較・差別化資料  |  小原 健太  080-9895-7770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</a:rPr>
              <a:t>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競合への切り返しトーク集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営業現場でよく出る質問への答え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11091672" cy="100584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731520" cy="822960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5272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16128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</a:rPr>
              <a:t>「KING OF TIMEで十分」と言われたら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50876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"/>
              </a:spcAft>
            </a:pPr>
            <a:r>
              <a:rPr sz="1000" b="0">
                <a:solidFill>
                  <a:srgbClr val="1A1A1A"/>
                </a:solidFill>
              </a:rPr>
              <a:t>→ コンディション報告は KING OF TIME にはありません。</a:t>
            </a:r>
          </a:p>
          <a:p>
            <a:pPr algn="l">
              <a:spcAft>
                <a:spcPts val="180"/>
              </a:spcAft>
            </a:pPr>
            <a:r>
              <a:rPr sz="1000" b="0">
                <a:solidFill>
                  <a:srgbClr val="1A1A1A"/>
                </a:solidFill>
              </a:rPr>
              <a:t>  打刻だけなら確かに KING OF TIME で OK ですが、</a:t>
            </a:r>
          </a:p>
          <a:p>
            <a:pPr algn="l">
              <a:spcAft>
                <a:spcPts val="180"/>
              </a:spcAft>
            </a:pPr>
            <a:r>
              <a:rPr sz="1000" b="0">
                <a:solidFill>
                  <a:srgbClr val="1A1A1A"/>
                </a:solidFill>
              </a:rPr>
              <a:t>  スタッフの離職予兆を毎日キャッチできるのは弊社だけです。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30552"/>
            <a:ext cx="11091672" cy="100584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2221992"/>
            <a:ext cx="731520" cy="822960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3317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24028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</a:rPr>
              <a:t>「ジョブカンで給与まで一気通貫したい」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587752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"/>
              </a:spcAft>
            </a:pPr>
            <a:r>
              <a:rPr sz="1000" b="0">
                <a:solidFill>
                  <a:srgbClr val="1A1A1A"/>
                </a:solidFill>
              </a:rPr>
              <a:t>→ 給与連携が最重要なら、ジョブカンが向いています。</a:t>
            </a:r>
          </a:p>
          <a:p>
            <a:pPr algn="l">
              <a:spcAft>
                <a:spcPts val="180"/>
              </a:spcAft>
            </a:pPr>
            <a:r>
              <a:rPr sz="1000" b="0">
                <a:solidFill>
                  <a:srgbClr val="1A1A1A"/>
                </a:solidFill>
              </a:rPr>
              <a:t>  ラクラク勤怠は CSV 出力で給与ソフトに連携できますが、</a:t>
            </a:r>
          </a:p>
          <a:p>
            <a:pPr algn="l">
              <a:spcAft>
                <a:spcPts val="180"/>
              </a:spcAft>
            </a:pPr>
            <a:r>
              <a:rPr sz="1000" b="0">
                <a:solidFill>
                  <a:srgbClr val="1A1A1A"/>
                </a:solidFill>
              </a:rPr>
              <a:t>  全部一気通貫が必須ならジョブカンを推奨します。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09544"/>
            <a:ext cx="11091672" cy="100584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300984"/>
            <a:ext cx="731520" cy="822960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1071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31927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</a:rPr>
              <a:t>「紙タイムカードで困っていない」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666744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"/>
              </a:spcAft>
            </a:pPr>
            <a:r>
              <a:rPr sz="1000" b="0">
                <a:solidFill>
                  <a:srgbClr val="1A1A1A"/>
                </a:solidFill>
              </a:rPr>
              <a:t>→ 集計時間に何時間使っていますか？</a:t>
            </a:r>
          </a:p>
          <a:p>
            <a:pPr algn="l">
              <a:spcAft>
                <a:spcPts val="180"/>
              </a:spcAft>
            </a:pPr>
            <a:r>
              <a:rPr sz="1000" b="0">
                <a:solidFill>
                  <a:srgbClr val="1A1A1A"/>
                </a:solidFill>
              </a:rPr>
              <a:t>  月10時間なら年120時間。</a:t>
            </a:r>
          </a:p>
          <a:p>
            <a:pPr algn="l">
              <a:spcAft>
                <a:spcPts val="180"/>
              </a:spcAft>
            </a:pPr>
            <a:r>
              <a:rPr sz="1000" b="0">
                <a:solidFill>
                  <a:srgbClr val="1A1A1A"/>
                </a:solidFill>
              </a:rPr>
              <a:t>  スタッフ100名なら、月¥20,000で集計時間ほぼゼロになります。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88536"/>
            <a:ext cx="11091672" cy="100584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4379975"/>
            <a:ext cx="731520" cy="822960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489703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398264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</a:rPr>
              <a:t>「実績が浅くて不安」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745736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"/>
              </a:spcAft>
            </a:pPr>
            <a:r>
              <a:rPr sz="1000" b="0">
                <a:solidFill>
                  <a:srgbClr val="1A1A1A"/>
                </a:solidFill>
              </a:rPr>
              <a:t>→ 30日間無料お試しで判断してください。</a:t>
            </a:r>
          </a:p>
          <a:p>
            <a:pPr algn="l">
              <a:spcAft>
                <a:spcPts val="180"/>
              </a:spcAft>
            </a:pPr>
            <a:r>
              <a:rPr sz="1000" b="0">
                <a:solidFill>
                  <a:srgbClr val="1A1A1A"/>
                </a:solidFill>
              </a:rPr>
              <a:t>  契約も月単位、違約金なし。</a:t>
            </a:r>
          </a:p>
          <a:p>
            <a:pPr algn="l">
              <a:spcAft>
                <a:spcPts val="180"/>
              </a:spcAft>
            </a:pPr>
            <a:r>
              <a:rPr sz="1000" b="0">
                <a:solidFill>
                  <a:srgbClr val="1A1A1A"/>
                </a:solidFill>
              </a:rPr>
              <a:t>  合わなければ翌月解約できます。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67527"/>
            <a:ext cx="11091672" cy="100584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5458967"/>
            <a:ext cx="731520" cy="822960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568695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477255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</a:rPr>
              <a:t>「他社と比べて検討したい」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824727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"/>
              </a:spcAft>
            </a:pPr>
            <a:r>
              <a:rPr sz="1000" b="0">
                <a:solidFill>
                  <a:srgbClr val="1A1A1A"/>
                </a:solidFill>
              </a:rPr>
              <a:t>→ ぜひ比較してください。</a:t>
            </a:r>
          </a:p>
          <a:p>
            <a:pPr algn="l">
              <a:spcAft>
                <a:spcPts val="180"/>
              </a:spcAft>
            </a:pPr>
            <a:r>
              <a:rPr sz="1000" b="0">
                <a:solidFill>
                  <a:srgbClr val="1A1A1A"/>
                </a:solidFill>
              </a:rPr>
              <a:t>  特に「コンディション報告」と「LINE完結」の2点を、</a:t>
            </a:r>
          </a:p>
          <a:p>
            <a:pPr algn="l">
              <a:spcAft>
                <a:spcPts val="180"/>
              </a:spcAft>
            </a:pPr>
            <a:r>
              <a:rPr sz="1000" b="0">
                <a:solidFill>
                  <a:srgbClr val="1A1A1A"/>
                </a:solidFill>
              </a:rPr>
              <a:t>  他社にも聞いてみてください。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ラクラク勤怠  |  競合比較・差別化資料  |  小原 健太  080-9895-7770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ラクラク勤怠は、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A623"/>
                </a:solidFill>
              </a:rPr>
              <a:t>「派遣スタッフの離職」だけに集中したSaaS。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2606040"/>
            <a:ext cx="118872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</a:pPr>
            <a:r>
              <a:rPr sz="1600" b="0">
                <a:solidFill>
                  <a:srgbClr val="FFFFFF"/>
                </a:solidFill>
              </a:rPr>
              <a:t>競合より機能は少ない。でも、</a:t>
            </a:r>
          </a:p>
          <a:p>
            <a:pPr algn="ctr">
              <a:spcAft>
                <a:spcPts val="480"/>
              </a:spcAft>
            </a:pPr>
            <a:r>
              <a:rPr sz="1600" b="0">
                <a:solidFill>
                  <a:srgbClr val="FFFFFF"/>
                </a:solidFill>
              </a:rPr>
              <a:t>派遣会社の現場で本当に必要なものに振り切っています。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04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6C755"/>
                </a:solidFill>
              </a:rPr>
              <a:t>唯一の機能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3A5F"/>
                </a:solidFill>
              </a:rPr>
              <a:t>コンディション報告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8404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402336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6C755"/>
                </a:solidFill>
              </a:rPr>
              <a:t>圧倒的価格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4434840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3A5F"/>
                </a:solidFill>
              </a:rPr>
              <a:t>150〜200円/人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8404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402336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6C755"/>
                </a:solidFill>
              </a:rPr>
              <a:t>即日導入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434840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3A5F"/>
                </a:solidFill>
              </a:rPr>
              <a:t>30分でセットアップ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5532120"/>
            <a:ext cx="5788152" cy="914400"/>
          </a:xfrm>
          <a:prstGeom prst="roundRect">
            <a:avLst>
              <a:gd name="adj" fmla="val 8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5623560"/>
            <a:ext cx="5788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</a:rPr>
              <a:t>30日間無料トライアル受付中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989320"/>
            <a:ext cx="5788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3A5F"/>
                </a:solidFill>
              </a:rPr>
              <a:t>小原 健太  /  080-9895-7770  /  biccuri5086@gmail.com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